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3487" r:id="rId2"/>
    <p:sldId id="3495" r:id="rId3"/>
    <p:sldId id="3492" r:id="rId4"/>
    <p:sldId id="3503" r:id="rId5"/>
    <p:sldId id="3502" r:id="rId6"/>
    <p:sldId id="3504" r:id="rId7"/>
    <p:sldId id="3505" r:id="rId8"/>
    <p:sldId id="3513" r:id="rId9"/>
    <p:sldId id="3514" r:id="rId10"/>
    <p:sldId id="3431" r:id="rId11"/>
    <p:sldId id="3481" r:id="rId12"/>
    <p:sldId id="3455" r:id="rId13"/>
    <p:sldId id="3506" r:id="rId14"/>
    <p:sldId id="3498" r:id="rId15"/>
    <p:sldId id="3507" r:id="rId16"/>
    <p:sldId id="3508" r:id="rId17"/>
    <p:sldId id="3509" r:id="rId18"/>
    <p:sldId id="3499" r:id="rId19"/>
    <p:sldId id="3510" r:id="rId20"/>
    <p:sldId id="3511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83" userDrawn="1">
          <p15:clr>
            <a:srgbClr val="A4A3A4"/>
          </p15:clr>
        </p15:guide>
        <p15:guide id="3" pos="71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FFC000"/>
    <a:srgbClr val="8EB4E3"/>
    <a:srgbClr val="EBF341"/>
    <a:srgbClr val="FBE5D6"/>
    <a:srgbClr val="BED1F1"/>
    <a:srgbClr val="DAC292"/>
    <a:srgbClr val="760000"/>
    <a:srgbClr val="BF1717"/>
    <a:srgbClr val="9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156" autoAdjust="0"/>
    <p:restoredTop sz="92875" autoAdjust="0"/>
  </p:normalViewPr>
  <p:slideViewPr>
    <p:cSldViewPr snapToGrid="0" showGuides="1">
      <p:cViewPr varScale="1">
        <p:scale>
          <a:sx n="87" d="100"/>
          <a:sy n="87" d="100"/>
        </p:scale>
        <p:origin x="76" y="392"/>
      </p:cViewPr>
      <p:guideLst>
        <p:guide orient="horz" pos="2160"/>
        <p:guide pos="583"/>
        <p:guide pos="71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A7F67-F846-46EA-8082-9F67FA8D1C07}" type="datetimeFigureOut">
              <a:rPr lang="zh-CN" altLang="en-US" smtClean="0"/>
              <a:t>2025-11-11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34C8A-2AB3-44AC-84FE-44DD1F17321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6F225-DEA4-47D7-9E18-7D1D5AF5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95728B-40A8-7119-0C82-A06661C6B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04DA2E-495C-F3CB-AF62-8ADCADE26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919C0E-BBCF-1AB8-973A-193C9437C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797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77347-DE15-F9E3-1E4A-BFA216BDA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91E631-BB36-E947-F7FE-2836A1F9D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0ADB71-0BF7-3C25-1EA6-8D9E4830F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EE392C-913A-D0E4-5A0B-EE65B85C2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81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70ACD-EB7E-18A7-C84C-42D33DDF8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66220E-46BE-8E9A-5778-D30924B03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1E0295-ECD8-F723-5B86-15449B4A9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1BEACF-5024-6756-62D7-33D2939AF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779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52998-0C9A-3714-051B-55DA9AE84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462003-536B-380A-59C5-D0F88147E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EBF8D3-93EC-7C3D-DDAA-CCABF9894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F353DD-8AAA-F3B0-E813-0423B684C8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610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27F11-522A-8D4E-D50D-B020513A0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92607D-5C16-1EE1-B28F-E2883F8D9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B799EC-0ADE-535A-322B-07CAF35C2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4E940F-488F-5950-E6DA-784900578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497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5F18D-F540-F350-93C8-77EAA3F52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81FE0D-BD99-9AD0-1569-3F0715BC5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55D46A-77AF-F7AF-54A3-A274FF4CA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D39A37-B15C-F5A3-E35D-733B46557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2352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3767C-455A-84F6-4F1D-84EF960DE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176580-794B-46A3-7AF8-78AAB8422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46B935-F531-21F4-FEB1-9DBC5C1B0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03738E-8700-5AEA-DBD2-7431E739F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987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F9CE8-1A1D-7CD3-3737-2662590FF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394C6B-54A1-76FC-B19B-BF24789C2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34BFCC-62A4-7D26-EFF7-F2248911D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682FCB-DD59-FB15-FC69-F8EED0BDF9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7022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244C8-6523-E1E0-8DAF-A8656BDB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326773-FB08-A1AA-4DC2-D57326A57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89535C-71B3-F525-A331-B241E1231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C373F2-7346-2900-7B31-45CC66388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979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AE946-834A-ECA2-612B-A3283DC0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995586-AC42-EA6A-1CBE-5848C7690E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50CE6D-13D2-4584-C5D0-FFD4417C2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1B050B-3D81-3A46-F7EF-66B5A515A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7702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8630F-1762-970C-2275-3489D34CB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E7A4E8-EBBC-4767-9C3C-0C0E1DDED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9E1232-D572-E448-D46C-6445DD4E4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458F49-70F9-84D6-672A-DF529FBF5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80DA7-5C17-472A-835A-990B92123DD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521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2025-11-11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2025-11-11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2025-11-11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2025-11-11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2025-11-11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2025-11-11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2025-11-11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2025-11-11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2025-11-11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2025-11-11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2025-11-11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DBA34-7A7E-4808-AB87-0F41496EB64D}" type="datetimeFigureOut">
              <a:rPr lang="zh-CN" altLang="en-US" smtClean="0"/>
              <a:t>2025-11-11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任意多边形: 形状 38"/>
          <p:cNvSpPr/>
          <p:nvPr/>
        </p:nvSpPr>
        <p:spPr>
          <a:xfrm>
            <a:off x="-1" y="0"/>
            <a:ext cx="3889034" cy="6858001"/>
          </a:xfrm>
          <a:custGeom>
            <a:avLst/>
            <a:gdLst>
              <a:gd name="connsiteX0" fmla="*/ 1177297 w 3889034"/>
              <a:gd name="connsiteY0" fmla="*/ 0 h 6858001"/>
              <a:gd name="connsiteX1" fmla="*/ 2852524 w 3889034"/>
              <a:gd name="connsiteY1" fmla="*/ 0 h 6858001"/>
              <a:gd name="connsiteX2" fmla="*/ 2862920 w 3889034"/>
              <a:gd name="connsiteY2" fmla="*/ 13269 h 6858001"/>
              <a:gd name="connsiteX3" fmla="*/ 3889034 w 3889034"/>
              <a:gd name="connsiteY3" fmla="*/ 3429274 h 6858001"/>
              <a:gd name="connsiteX4" fmla="*/ 2862920 w 3889034"/>
              <a:gd name="connsiteY4" fmla="*/ 6845279 h 6858001"/>
              <a:gd name="connsiteX5" fmla="*/ 2852953 w 3889034"/>
              <a:gd name="connsiteY5" fmla="*/ 6858000 h 6858001"/>
              <a:gd name="connsiteX6" fmla="*/ 2472267 w 3889034"/>
              <a:gd name="connsiteY6" fmla="*/ 6858000 h 6858001"/>
              <a:gd name="connsiteX7" fmla="*/ 2472267 w 3889034"/>
              <a:gd name="connsiteY7" fmla="*/ 6858001 h 6858001"/>
              <a:gd name="connsiteX8" fmla="*/ 0 w 3889034"/>
              <a:gd name="connsiteY8" fmla="*/ 6858001 h 6858001"/>
              <a:gd name="connsiteX9" fmla="*/ 0 w 3889034"/>
              <a:gd name="connsiteY9" fmla="*/ 1 h 6858001"/>
              <a:gd name="connsiteX10" fmla="*/ 1177297 w 3889034"/>
              <a:gd name="connsiteY10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89034" h="6858001">
                <a:moveTo>
                  <a:pt x="1177297" y="0"/>
                </a:moveTo>
                <a:lnTo>
                  <a:pt x="2852524" y="0"/>
                </a:lnTo>
                <a:lnTo>
                  <a:pt x="2862920" y="13269"/>
                </a:lnTo>
                <a:cubicBezTo>
                  <a:pt x="3493284" y="857456"/>
                  <a:pt x="3889034" y="2075267"/>
                  <a:pt x="3889034" y="3429274"/>
                </a:cubicBezTo>
                <a:cubicBezTo>
                  <a:pt x="3889034" y="4783280"/>
                  <a:pt x="3493284" y="6001092"/>
                  <a:pt x="2862920" y="6845279"/>
                </a:cubicBezTo>
                <a:lnTo>
                  <a:pt x="2852953" y="6858000"/>
                </a:lnTo>
                <a:lnTo>
                  <a:pt x="2472267" y="6858000"/>
                </a:lnTo>
                <a:lnTo>
                  <a:pt x="2472267" y="6858001"/>
                </a:lnTo>
                <a:lnTo>
                  <a:pt x="0" y="6858001"/>
                </a:lnTo>
                <a:lnTo>
                  <a:pt x="0" y="1"/>
                </a:lnTo>
                <a:lnTo>
                  <a:pt x="1177297" y="1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9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13508" y="2495171"/>
            <a:ext cx="1997246" cy="12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6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47312" y="3752717"/>
            <a:ext cx="1816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spc="3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pc="3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5386240" y="829777"/>
            <a:ext cx="2697967" cy="684000"/>
            <a:chOff x="5341377" y="1216611"/>
            <a:chExt cx="2697967" cy="684000"/>
          </a:xfrm>
        </p:grpSpPr>
        <p:grpSp>
          <p:nvGrpSpPr>
            <p:cNvPr id="22" name="组合 21"/>
            <p:cNvGrpSpPr/>
            <p:nvPr/>
          </p:nvGrpSpPr>
          <p:grpSpPr>
            <a:xfrm>
              <a:off x="5341377" y="1216611"/>
              <a:ext cx="684000" cy="684000"/>
              <a:chOff x="4985777" y="1271596"/>
              <a:chExt cx="684000" cy="684000"/>
            </a:xfrm>
          </p:grpSpPr>
          <p:sp>
            <p:nvSpPr>
              <p:cNvPr id="3" name="椭圆 2"/>
              <p:cNvSpPr/>
              <p:nvPr/>
            </p:nvSpPr>
            <p:spPr>
              <a:xfrm>
                <a:off x="4985777" y="1271596"/>
                <a:ext cx="684000" cy="6840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alpha val="80000"/>
                    </a:schemeClr>
                  </a:gs>
                  <a:gs pos="100000">
                    <a:schemeClr val="accent1"/>
                  </a:gs>
                </a:gsLst>
                <a:lin ang="10800000" scaled="1"/>
              </a:gradFill>
              <a:ln w="635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5059755" y="1382764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6264499" y="1290773"/>
              <a:ext cx="17748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赛题解读</a:t>
              </a:r>
              <a:endPara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386240" y="1980735"/>
            <a:ext cx="4288145" cy="684000"/>
            <a:chOff x="5341377" y="2499678"/>
            <a:chExt cx="4288145" cy="684000"/>
          </a:xfrm>
        </p:grpSpPr>
        <p:grpSp>
          <p:nvGrpSpPr>
            <p:cNvPr id="20" name="组合 19"/>
            <p:cNvGrpSpPr/>
            <p:nvPr/>
          </p:nvGrpSpPr>
          <p:grpSpPr>
            <a:xfrm>
              <a:off x="5341377" y="2499678"/>
              <a:ext cx="684000" cy="684000"/>
              <a:chOff x="4985777" y="2522375"/>
              <a:chExt cx="684000" cy="684000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4985777" y="2522375"/>
                <a:ext cx="684000" cy="6840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alpha val="80000"/>
                    </a:schemeClr>
                  </a:gs>
                  <a:gs pos="100000">
                    <a:schemeClr val="accent1"/>
                  </a:gs>
                </a:gsLst>
                <a:lin ang="10800000" scaled="1"/>
              </a:gradFill>
              <a:ln w="635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5046692" y="263354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6264498" y="2580068"/>
              <a:ext cx="33650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数据分析与预处理</a:t>
              </a:r>
              <a:endPara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386240" y="3131693"/>
            <a:ext cx="3890600" cy="684000"/>
            <a:chOff x="5341377" y="3708704"/>
            <a:chExt cx="3890600" cy="684000"/>
          </a:xfrm>
        </p:grpSpPr>
        <p:grpSp>
          <p:nvGrpSpPr>
            <p:cNvPr id="18" name="组合 17"/>
            <p:cNvGrpSpPr/>
            <p:nvPr/>
          </p:nvGrpSpPr>
          <p:grpSpPr>
            <a:xfrm>
              <a:off x="5341377" y="3708704"/>
              <a:ext cx="684000" cy="684000"/>
              <a:chOff x="4985777" y="3681273"/>
              <a:chExt cx="684000" cy="684000"/>
            </a:xfrm>
          </p:grpSpPr>
          <p:sp>
            <p:nvSpPr>
              <p:cNvPr id="14" name="椭圆 13"/>
              <p:cNvSpPr/>
              <p:nvPr/>
            </p:nvSpPr>
            <p:spPr>
              <a:xfrm>
                <a:off x="4985777" y="3681273"/>
                <a:ext cx="684000" cy="6840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alpha val="80000"/>
                    </a:schemeClr>
                  </a:gs>
                  <a:gs pos="100000">
                    <a:schemeClr val="accent1"/>
                  </a:gs>
                </a:gsLst>
                <a:lin ang="10800000" scaled="1"/>
              </a:gradFill>
              <a:ln w="635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5051046" y="3792441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6264498" y="3819872"/>
              <a:ext cx="29674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数据划分与打标</a:t>
              </a:r>
              <a:endPara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386240" y="4282651"/>
            <a:ext cx="2697965" cy="684000"/>
            <a:chOff x="5341377" y="5096786"/>
            <a:chExt cx="2697965" cy="684000"/>
          </a:xfrm>
        </p:grpSpPr>
        <p:grpSp>
          <p:nvGrpSpPr>
            <p:cNvPr id="17" name="组合 16"/>
            <p:cNvGrpSpPr/>
            <p:nvPr/>
          </p:nvGrpSpPr>
          <p:grpSpPr>
            <a:xfrm>
              <a:off x="5341377" y="5096786"/>
              <a:ext cx="684000" cy="684000"/>
              <a:chOff x="4985777" y="5040454"/>
              <a:chExt cx="684000" cy="684000"/>
            </a:xfrm>
          </p:grpSpPr>
          <p:sp>
            <p:nvSpPr>
              <p:cNvPr id="15" name="椭圆 14"/>
              <p:cNvSpPr/>
              <p:nvPr/>
            </p:nvSpPr>
            <p:spPr>
              <a:xfrm>
                <a:off x="4985777" y="5040454"/>
                <a:ext cx="684000" cy="6840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alpha val="80000"/>
                    </a:schemeClr>
                  </a:gs>
                  <a:gs pos="100000">
                    <a:schemeClr val="accent1"/>
                  </a:gs>
                </a:gsLst>
                <a:lin ang="10800000" scaled="1"/>
              </a:gradFill>
              <a:ln w="635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5046693" y="515162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  <a:endParaRPr lang="zh-CN" altLang="en-US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9" name="文本框 18"/>
            <p:cNvSpPr txBox="1"/>
            <p:nvPr/>
          </p:nvSpPr>
          <p:spPr>
            <a:xfrm>
              <a:off x="6264497" y="5177176"/>
              <a:ext cx="17748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特征工程</a:t>
              </a:r>
              <a:endPara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129126D-DAEF-6490-DEA8-F3FB6DCE01EB}"/>
              </a:ext>
            </a:extLst>
          </p:cNvPr>
          <p:cNvGrpSpPr/>
          <p:nvPr/>
        </p:nvGrpSpPr>
        <p:grpSpPr>
          <a:xfrm>
            <a:off x="5386240" y="5433609"/>
            <a:ext cx="3890599" cy="684000"/>
            <a:chOff x="5341377" y="5096786"/>
            <a:chExt cx="3890599" cy="68400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06DFF51-7D3F-496F-D675-78FCC428F683}"/>
                </a:ext>
              </a:extLst>
            </p:cNvPr>
            <p:cNvGrpSpPr/>
            <p:nvPr/>
          </p:nvGrpSpPr>
          <p:grpSpPr>
            <a:xfrm>
              <a:off x="5341377" y="5096786"/>
              <a:ext cx="684000" cy="684000"/>
              <a:chOff x="4985777" y="5040454"/>
              <a:chExt cx="684000" cy="684000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B07674DF-96C5-951B-BA5C-C468F0B54764}"/>
                  </a:ext>
                </a:extLst>
              </p:cNvPr>
              <p:cNvSpPr/>
              <p:nvPr/>
            </p:nvSpPr>
            <p:spPr>
              <a:xfrm>
                <a:off x="4985777" y="5040454"/>
                <a:ext cx="684000" cy="6840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alpha val="80000"/>
                    </a:schemeClr>
                  </a:gs>
                  <a:gs pos="100000">
                    <a:schemeClr val="accent1"/>
                  </a:gs>
                </a:gsLst>
                <a:lin ang="10800000" scaled="1"/>
              </a:gradFill>
              <a:ln w="635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BD85849-5C0A-A18A-67F6-53FCABA14DDD}"/>
                  </a:ext>
                </a:extLst>
              </p:cNvPr>
              <p:cNvSpPr txBox="1"/>
              <p:nvPr/>
            </p:nvSpPr>
            <p:spPr>
              <a:xfrm>
                <a:off x="5046693" y="515162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  <a:endPara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EA2FB61-251D-EA89-BD41-E1604E4DAF32}"/>
                </a:ext>
              </a:extLst>
            </p:cNvPr>
            <p:cNvSpPr txBox="1"/>
            <p:nvPr/>
          </p:nvSpPr>
          <p:spPr>
            <a:xfrm>
              <a:off x="6264497" y="5177176"/>
              <a:ext cx="29674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模型优化与融合</a:t>
              </a:r>
              <a:endPara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4712" y="3274178"/>
            <a:ext cx="35702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赛题解读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55244" y="1807200"/>
            <a:ext cx="17043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600" b="1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9600" b="1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6613693" y="1254294"/>
            <a:ext cx="6858002" cy="4349415"/>
          </a:xfrm>
          <a:custGeom>
            <a:avLst/>
            <a:gdLst>
              <a:gd name="connsiteX0" fmla="*/ 6858002 w 6858002"/>
              <a:gd name="connsiteY0" fmla="*/ 3312906 h 4349415"/>
              <a:gd name="connsiteX1" fmla="*/ 6858002 w 6858002"/>
              <a:gd name="connsiteY1" fmla="*/ 1637677 h 4349415"/>
              <a:gd name="connsiteX2" fmla="*/ 6858000 w 6858002"/>
              <a:gd name="connsiteY2" fmla="*/ 1637677 h 4349415"/>
              <a:gd name="connsiteX3" fmla="*/ 6858000 w 6858002"/>
              <a:gd name="connsiteY3" fmla="*/ 0 h 4349415"/>
              <a:gd name="connsiteX4" fmla="*/ 0 w 6858002"/>
              <a:gd name="connsiteY4" fmla="*/ 0 h 4349415"/>
              <a:gd name="connsiteX5" fmla="*/ 0 w 6858002"/>
              <a:gd name="connsiteY5" fmla="*/ 2472268 h 4349415"/>
              <a:gd name="connsiteX6" fmla="*/ 2 w 6858002"/>
              <a:gd name="connsiteY6" fmla="*/ 2472268 h 4349415"/>
              <a:gd name="connsiteX7" fmla="*/ 2 w 6858002"/>
              <a:gd name="connsiteY7" fmla="*/ 3313334 h 4349415"/>
              <a:gd name="connsiteX8" fmla="*/ 12723 w 6858002"/>
              <a:gd name="connsiteY8" fmla="*/ 3323302 h 4349415"/>
              <a:gd name="connsiteX9" fmla="*/ 3428728 w 6858002"/>
              <a:gd name="connsiteY9" fmla="*/ 4349415 h 4349415"/>
              <a:gd name="connsiteX10" fmla="*/ 6844733 w 6858002"/>
              <a:gd name="connsiteY10" fmla="*/ 3323302 h 434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2" h="4349415">
                <a:moveTo>
                  <a:pt x="6858002" y="3312906"/>
                </a:moveTo>
                <a:lnTo>
                  <a:pt x="6858002" y="1637677"/>
                </a:lnTo>
                <a:lnTo>
                  <a:pt x="6858000" y="1637677"/>
                </a:lnTo>
                <a:lnTo>
                  <a:pt x="6858000" y="0"/>
                </a:lnTo>
                <a:lnTo>
                  <a:pt x="0" y="0"/>
                </a:lnTo>
                <a:lnTo>
                  <a:pt x="0" y="2472268"/>
                </a:lnTo>
                <a:lnTo>
                  <a:pt x="2" y="2472268"/>
                </a:lnTo>
                <a:lnTo>
                  <a:pt x="2" y="3313334"/>
                </a:lnTo>
                <a:lnTo>
                  <a:pt x="12723" y="3323302"/>
                </a:lnTo>
                <a:cubicBezTo>
                  <a:pt x="856910" y="3953665"/>
                  <a:pt x="2074722" y="4349415"/>
                  <a:pt x="3428728" y="4349415"/>
                </a:cubicBezTo>
                <a:cubicBezTo>
                  <a:pt x="4782735" y="4349415"/>
                  <a:pt x="6000546" y="3953665"/>
                  <a:pt x="6844733" y="332330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6984865" y="2565000"/>
            <a:ext cx="1728000" cy="1728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博士帽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91400" y="2971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>
            <a:extLst>
              <a:ext uri="{FF2B5EF4-FFF2-40B4-BE49-F238E27FC236}">
                <a16:creationId xmlns:a16="http://schemas.microsoft.com/office/drawing/2014/main" id="{5799586F-3CF1-0C5F-D9C9-BBD23FC50003}"/>
              </a:ext>
            </a:extLst>
          </p:cNvPr>
          <p:cNvSpPr/>
          <p:nvPr/>
        </p:nvSpPr>
        <p:spPr>
          <a:xfrm>
            <a:off x="0" y="-1270"/>
            <a:ext cx="2418176" cy="64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赛题解读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C37BA29-15A5-4A1E-4151-F4223B7858DC}"/>
              </a:ext>
            </a:extLst>
          </p:cNvPr>
          <p:cNvSpPr/>
          <p:nvPr/>
        </p:nvSpPr>
        <p:spPr>
          <a:xfrm>
            <a:off x="516553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数据划分与打标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39762E7-0501-A730-3462-1F17D338EBFD}"/>
              </a:ext>
            </a:extLst>
          </p:cNvPr>
          <p:cNvSpPr/>
          <p:nvPr/>
        </p:nvSpPr>
        <p:spPr>
          <a:xfrm>
            <a:off x="7443803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C5DFBF0-F84A-CA0A-6A39-2DF2A0A16F17}"/>
              </a:ext>
            </a:extLst>
          </p:cNvPr>
          <p:cNvSpPr/>
          <p:nvPr/>
        </p:nvSpPr>
        <p:spPr>
          <a:xfrm>
            <a:off x="2596218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数据分析与预处理</a:t>
            </a: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157DFFB-2D5A-AEF5-3E70-BA0E643FFA1C}"/>
              </a:ext>
            </a:extLst>
          </p:cNvPr>
          <p:cNvCxnSpPr>
            <a:cxnSpLocks/>
          </p:cNvCxnSpPr>
          <p:nvPr/>
        </p:nvCxnSpPr>
        <p:spPr>
          <a:xfrm>
            <a:off x="5006260" y="149659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99B488FC-3E3C-EE9C-9F51-F1D9270F08A5}"/>
              </a:ext>
            </a:extLst>
          </p:cNvPr>
          <p:cNvCxnSpPr/>
          <p:nvPr/>
        </p:nvCxnSpPr>
        <p:spPr>
          <a:xfrm>
            <a:off x="756644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041EF2E9-9E0C-F3E4-9CE6-76DA54EB20E6}"/>
              </a:ext>
            </a:extLst>
          </p:cNvPr>
          <p:cNvCxnSpPr/>
          <p:nvPr/>
        </p:nvCxnSpPr>
        <p:spPr>
          <a:xfrm>
            <a:off x="973195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0BFF6165-83E3-763E-9AEB-78D792784C6C}"/>
              </a:ext>
            </a:extLst>
          </p:cNvPr>
          <p:cNvSpPr/>
          <p:nvPr/>
        </p:nvSpPr>
        <p:spPr>
          <a:xfrm>
            <a:off x="982634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模型优化与融合</a:t>
            </a: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A96D0B61-CF29-0ECA-06CE-50AC46E9A668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: 圆顶角 67">
            <a:extLst>
              <a:ext uri="{FF2B5EF4-FFF2-40B4-BE49-F238E27FC236}">
                <a16:creationId xmlns:a16="http://schemas.microsoft.com/office/drawing/2014/main" id="{F313503E-CBDB-43B2-497F-82E8AED35661}"/>
              </a:ext>
            </a:extLst>
          </p:cNvPr>
          <p:cNvSpPr/>
          <p:nvPr/>
        </p:nvSpPr>
        <p:spPr>
          <a:xfrm>
            <a:off x="380752" y="1413244"/>
            <a:ext cx="6638813" cy="541486"/>
          </a:xfrm>
          <a:prstGeom prst="round2Same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lin ang="10800000" scaled="1"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3DD01DC-9A31-2D69-1AD5-80543BE69161}"/>
              </a:ext>
            </a:extLst>
          </p:cNvPr>
          <p:cNvSpPr txBox="1"/>
          <p:nvPr/>
        </p:nvSpPr>
        <p:spPr>
          <a:xfrm>
            <a:off x="524533" y="1462595"/>
            <a:ext cx="1324893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85B67C56-28D1-58EC-3C3D-846E18DB69EC}"/>
              </a:ext>
            </a:extLst>
          </p:cNvPr>
          <p:cNvSpPr txBox="1"/>
          <p:nvPr/>
        </p:nvSpPr>
        <p:spPr>
          <a:xfrm>
            <a:off x="524533" y="2256461"/>
            <a:ext cx="112526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81818"/>
                </a:solidFill>
                <a:effectLst/>
                <a:latin typeface="pingfang SC"/>
              </a:rPr>
              <a:t>         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赛题提供用户在</a:t>
            </a:r>
            <a:r>
              <a:rPr lang="en-US" altLang="zh-CN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2016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日至</a:t>
            </a:r>
            <a:r>
              <a:rPr lang="en-US" altLang="zh-CN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2016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日之间真实线上线下消费行为，预测用户在</a:t>
            </a:r>
            <a:r>
              <a:rPr lang="en-US" altLang="zh-CN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2016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月领取优惠券后</a:t>
            </a:r>
            <a:r>
              <a:rPr lang="en-US" altLang="zh-CN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天以内的使用情况。（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二分类任务</a:t>
            </a:r>
            <a:r>
              <a:rPr lang="zh-CN" altLang="en-US" b="0" i="0" dirty="0">
                <a:solidFill>
                  <a:srgbClr val="181818"/>
                </a:solidFill>
                <a:effectLst/>
                <a:latin typeface="pingfang SC"/>
              </a:rPr>
              <a:t>）</a:t>
            </a:r>
            <a:endParaRPr lang="zh-CN" altLang="en-US" dirty="0"/>
          </a:p>
        </p:txBody>
      </p:sp>
      <p:sp>
        <p:nvSpPr>
          <p:cNvPr id="74" name="矩形: 圆顶角 73">
            <a:extLst>
              <a:ext uri="{FF2B5EF4-FFF2-40B4-BE49-F238E27FC236}">
                <a16:creationId xmlns:a16="http://schemas.microsoft.com/office/drawing/2014/main" id="{7E0343CC-F43D-5958-CF78-C4B711F38846}"/>
              </a:ext>
            </a:extLst>
          </p:cNvPr>
          <p:cNvSpPr/>
          <p:nvPr/>
        </p:nvSpPr>
        <p:spPr>
          <a:xfrm>
            <a:off x="380753" y="3328783"/>
            <a:ext cx="6638814" cy="541486"/>
          </a:xfrm>
          <a:prstGeom prst="round2Same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lin ang="10800000" scaled="1"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6393192-34AE-9FD6-28A9-4F9E6803015C}"/>
              </a:ext>
            </a:extLst>
          </p:cNvPr>
          <p:cNvSpPr txBox="1"/>
          <p:nvPr/>
        </p:nvSpPr>
        <p:spPr>
          <a:xfrm>
            <a:off x="524533" y="3378134"/>
            <a:ext cx="1324893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评价指标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2B2211F3-24DA-62BA-52BB-0E2DC7DC686E}"/>
              </a:ext>
            </a:extLst>
          </p:cNvPr>
          <p:cNvSpPr txBox="1"/>
          <p:nvPr/>
        </p:nvSpPr>
        <p:spPr>
          <a:xfrm>
            <a:off x="524532" y="4244427"/>
            <a:ext cx="55714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solidFill>
                  <a:srgbClr val="181818"/>
                </a:solidFill>
                <a:latin typeface="pingfang SC"/>
              </a:rPr>
              <a:t>         </a:t>
            </a:r>
            <a:r>
              <a:rPr lang="zh-CN" altLang="en-US" dirty="0">
                <a:solidFill>
                  <a:srgbClr val="1818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本赛题目标是预测投放的优惠券是否核销。针对此任务及一些相关背景知识，使用优惠券核销预测的平均</a:t>
            </a:r>
            <a:r>
              <a:rPr lang="en-US" altLang="zh-CN" dirty="0">
                <a:solidFill>
                  <a:srgbClr val="1818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AUC</a:t>
            </a:r>
            <a:r>
              <a:rPr lang="zh-CN" altLang="en-US" dirty="0">
                <a:solidFill>
                  <a:srgbClr val="1818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1818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</a:t>
            </a:r>
            <a:r>
              <a:rPr lang="zh-CN" altLang="en-US" dirty="0">
                <a:solidFill>
                  <a:srgbClr val="1818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曲线下面积）作为评价标准。 即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对每个优惠券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coupon_id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单独计算核销预测的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AUC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dirty="0">
                <a:solidFill>
                  <a:srgbClr val="1818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，再对所有优惠券的</a:t>
            </a:r>
            <a:r>
              <a:rPr lang="en-US" altLang="zh-CN" dirty="0">
                <a:solidFill>
                  <a:srgbClr val="1818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AUC</a:t>
            </a:r>
            <a:r>
              <a:rPr lang="zh-CN" altLang="en-US" dirty="0">
                <a:solidFill>
                  <a:srgbClr val="1818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值求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</a:t>
            </a:r>
            <a:r>
              <a:rPr lang="zh-CN" altLang="en-US" dirty="0">
                <a:solidFill>
                  <a:srgbClr val="1818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作为最终的评价标准。 </a:t>
            </a:r>
          </a:p>
        </p:txBody>
      </p:sp>
      <p:pic>
        <p:nvPicPr>
          <p:cNvPr id="78" name="图片 77">
            <a:extLst>
              <a:ext uri="{FF2B5EF4-FFF2-40B4-BE49-F238E27FC236}">
                <a16:creationId xmlns:a16="http://schemas.microsoft.com/office/drawing/2014/main" id="{313B5B19-0A78-AD7F-6D31-D9918242C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565" y="3870269"/>
            <a:ext cx="4554937" cy="2534578"/>
          </a:xfrm>
          <a:prstGeom prst="rect">
            <a:avLst/>
          </a:prstGeom>
        </p:spPr>
      </p:pic>
      <p:sp>
        <p:nvSpPr>
          <p:cNvPr id="79" name="www.koppt.cn">
            <a:extLst>
              <a:ext uri="{FF2B5EF4-FFF2-40B4-BE49-F238E27FC236}">
                <a16:creationId xmlns:a16="http://schemas.microsoft.com/office/drawing/2014/main" id="{DB32A36C-7848-8C36-328A-62A08F238EBC}"/>
              </a:ext>
            </a:extLst>
          </p:cNvPr>
          <p:cNvSpPr/>
          <p:nvPr/>
        </p:nvSpPr>
        <p:spPr bwMode="auto">
          <a:xfrm rot="10800000" flipH="1">
            <a:off x="6177419" y="4194192"/>
            <a:ext cx="637690" cy="1305566"/>
          </a:xfrm>
          <a:custGeom>
            <a:avLst/>
            <a:gdLst>
              <a:gd name="connsiteX0" fmla="*/ 0 w 2385058"/>
              <a:gd name="connsiteY0" fmla="*/ 3779520 h 3779520"/>
              <a:gd name="connsiteX1" fmla="*/ 1851658 w 2385058"/>
              <a:gd name="connsiteY1" fmla="*/ 2293620 h 3779520"/>
              <a:gd name="connsiteX2" fmla="*/ 1851658 w 2385058"/>
              <a:gd name="connsiteY2" fmla="*/ 2560320 h 3779520"/>
              <a:gd name="connsiteX3" fmla="*/ 2385058 w 2385058"/>
              <a:gd name="connsiteY3" fmla="*/ 1889760 h 3779520"/>
              <a:gd name="connsiteX4" fmla="*/ 1851658 w 2385058"/>
              <a:gd name="connsiteY4" fmla="*/ 1219200 h 3779520"/>
              <a:gd name="connsiteX5" fmla="*/ 1851658 w 2385058"/>
              <a:gd name="connsiteY5" fmla="*/ 1485900 h 3779520"/>
              <a:gd name="connsiteX6" fmla="*/ 0 w 2385058"/>
              <a:gd name="connsiteY6" fmla="*/ 0 h 3779520"/>
              <a:gd name="connsiteX7" fmla="*/ 0 w 2385058"/>
              <a:gd name="connsiteY7" fmla="*/ 1889760 h 377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5058" h="3779520">
                <a:moveTo>
                  <a:pt x="0" y="3779520"/>
                </a:moveTo>
                <a:cubicBezTo>
                  <a:pt x="495300" y="2994660"/>
                  <a:pt x="929640" y="2369820"/>
                  <a:pt x="1851658" y="2293620"/>
                </a:cubicBezTo>
                <a:lnTo>
                  <a:pt x="1851658" y="2560320"/>
                </a:lnTo>
                <a:lnTo>
                  <a:pt x="2385058" y="1889760"/>
                </a:lnTo>
                <a:lnTo>
                  <a:pt x="1851658" y="1219200"/>
                </a:lnTo>
                <a:lnTo>
                  <a:pt x="1851658" y="1485900"/>
                </a:lnTo>
                <a:cubicBezTo>
                  <a:pt x="929640" y="1409700"/>
                  <a:pt x="495300" y="784860"/>
                  <a:pt x="0" y="0"/>
                </a:cubicBezTo>
                <a:lnTo>
                  <a:pt x="0" y="1889760"/>
                </a:lnTo>
                <a:close/>
              </a:path>
            </a:pathLst>
          </a:custGeom>
          <a:gradFill flip="none" rotWithShape="1">
            <a:gsLst>
              <a:gs pos="27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  <a:tileRect/>
          </a:gradFill>
          <a:ln w="6350">
            <a:gradFill flip="none" rotWithShape="1">
              <a:gsLst>
                <a:gs pos="15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prstClr val="white"/>
                </a:solidFill>
                <a:cs typeface="+mn-ea"/>
                <a:sym typeface="+mn-lt"/>
              </a:rPr>
              <a:t> </a:t>
            </a:r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74E72-FF73-0815-889F-E385C5158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33234A3-120A-1BFE-9C17-7D960E73B82F}"/>
              </a:ext>
            </a:extLst>
          </p:cNvPr>
          <p:cNvSpPr txBox="1"/>
          <p:nvPr/>
        </p:nvSpPr>
        <p:spPr>
          <a:xfrm>
            <a:off x="884712" y="3274178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数据分析与预处理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44A30D-376D-B25D-4981-5F17D200B7EE}"/>
              </a:ext>
            </a:extLst>
          </p:cNvPr>
          <p:cNvSpPr txBox="1"/>
          <p:nvPr/>
        </p:nvSpPr>
        <p:spPr>
          <a:xfrm>
            <a:off x="955244" y="1807200"/>
            <a:ext cx="17043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600" b="1" dirty="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9600" b="1" dirty="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FD1E17E7-3C31-6A83-141D-15947504D856}"/>
              </a:ext>
            </a:extLst>
          </p:cNvPr>
          <p:cNvSpPr/>
          <p:nvPr/>
        </p:nvSpPr>
        <p:spPr>
          <a:xfrm rot="5400000" flipH="1">
            <a:off x="6613693" y="1254294"/>
            <a:ext cx="6858002" cy="4349415"/>
          </a:xfrm>
          <a:custGeom>
            <a:avLst/>
            <a:gdLst>
              <a:gd name="connsiteX0" fmla="*/ 6858002 w 6858002"/>
              <a:gd name="connsiteY0" fmla="*/ 3312906 h 4349415"/>
              <a:gd name="connsiteX1" fmla="*/ 6858002 w 6858002"/>
              <a:gd name="connsiteY1" fmla="*/ 1637677 h 4349415"/>
              <a:gd name="connsiteX2" fmla="*/ 6858000 w 6858002"/>
              <a:gd name="connsiteY2" fmla="*/ 1637677 h 4349415"/>
              <a:gd name="connsiteX3" fmla="*/ 6858000 w 6858002"/>
              <a:gd name="connsiteY3" fmla="*/ 0 h 4349415"/>
              <a:gd name="connsiteX4" fmla="*/ 0 w 6858002"/>
              <a:gd name="connsiteY4" fmla="*/ 0 h 4349415"/>
              <a:gd name="connsiteX5" fmla="*/ 0 w 6858002"/>
              <a:gd name="connsiteY5" fmla="*/ 2472268 h 4349415"/>
              <a:gd name="connsiteX6" fmla="*/ 2 w 6858002"/>
              <a:gd name="connsiteY6" fmla="*/ 2472268 h 4349415"/>
              <a:gd name="connsiteX7" fmla="*/ 2 w 6858002"/>
              <a:gd name="connsiteY7" fmla="*/ 3313334 h 4349415"/>
              <a:gd name="connsiteX8" fmla="*/ 12723 w 6858002"/>
              <a:gd name="connsiteY8" fmla="*/ 3323302 h 4349415"/>
              <a:gd name="connsiteX9" fmla="*/ 3428728 w 6858002"/>
              <a:gd name="connsiteY9" fmla="*/ 4349415 h 4349415"/>
              <a:gd name="connsiteX10" fmla="*/ 6844733 w 6858002"/>
              <a:gd name="connsiteY10" fmla="*/ 3323302 h 434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2" h="4349415">
                <a:moveTo>
                  <a:pt x="6858002" y="3312906"/>
                </a:moveTo>
                <a:lnTo>
                  <a:pt x="6858002" y="1637677"/>
                </a:lnTo>
                <a:lnTo>
                  <a:pt x="6858000" y="1637677"/>
                </a:lnTo>
                <a:lnTo>
                  <a:pt x="6858000" y="0"/>
                </a:lnTo>
                <a:lnTo>
                  <a:pt x="0" y="0"/>
                </a:lnTo>
                <a:lnTo>
                  <a:pt x="0" y="2472268"/>
                </a:lnTo>
                <a:lnTo>
                  <a:pt x="2" y="2472268"/>
                </a:lnTo>
                <a:lnTo>
                  <a:pt x="2" y="3313334"/>
                </a:lnTo>
                <a:lnTo>
                  <a:pt x="12723" y="3323302"/>
                </a:lnTo>
                <a:cubicBezTo>
                  <a:pt x="856910" y="3953665"/>
                  <a:pt x="2074722" y="4349415"/>
                  <a:pt x="3428728" y="4349415"/>
                </a:cubicBezTo>
                <a:cubicBezTo>
                  <a:pt x="4782735" y="4349415"/>
                  <a:pt x="6000546" y="3953665"/>
                  <a:pt x="6844733" y="332330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0BD8420B-C371-2E20-2655-B0B050EF7ED4}"/>
              </a:ext>
            </a:extLst>
          </p:cNvPr>
          <p:cNvSpPr/>
          <p:nvPr/>
        </p:nvSpPr>
        <p:spPr>
          <a:xfrm>
            <a:off x="6984865" y="2565000"/>
            <a:ext cx="1728000" cy="1728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博士帽">
            <a:extLst>
              <a:ext uri="{FF2B5EF4-FFF2-40B4-BE49-F238E27FC236}">
                <a16:creationId xmlns:a16="http://schemas.microsoft.com/office/drawing/2014/main" id="{B7B4CB48-23E7-8933-F615-D2907C990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91400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32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DB304-50C8-6ACD-9CEF-E01C77336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 66">
            <a:extLst>
              <a:ext uri="{FF2B5EF4-FFF2-40B4-BE49-F238E27FC236}">
                <a16:creationId xmlns:a16="http://schemas.microsoft.com/office/drawing/2014/main" id="{33E8E82F-3387-F8F2-D044-3D415D4E109C}"/>
              </a:ext>
            </a:extLst>
          </p:cNvPr>
          <p:cNvSpPr/>
          <p:nvPr/>
        </p:nvSpPr>
        <p:spPr>
          <a:xfrm>
            <a:off x="186176" y="-1270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赛题解读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751DB66-E07C-4D1B-78DA-1AB8C22952F7}"/>
              </a:ext>
            </a:extLst>
          </p:cNvPr>
          <p:cNvSpPr/>
          <p:nvPr/>
        </p:nvSpPr>
        <p:spPr>
          <a:xfrm>
            <a:off x="516553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数据划分与打标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D89884F-F7C7-F35A-E031-EA9DAACC8032}"/>
              </a:ext>
            </a:extLst>
          </p:cNvPr>
          <p:cNvSpPr/>
          <p:nvPr/>
        </p:nvSpPr>
        <p:spPr>
          <a:xfrm>
            <a:off x="7443803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D5587B7-22C1-E1A7-F196-2D1F6E35A182}"/>
              </a:ext>
            </a:extLst>
          </p:cNvPr>
          <p:cNvSpPr/>
          <p:nvPr/>
        </p:nvSpPr>
        <p:spPr>
          <a:xfrm>
            <a:off x="2596218" y="1652"/>
            <a:ext cx="2232000" cy="64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数据分析与预处理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1AA0035A-512C-78B7-8E53-35925DA77DC1}"/>
              </a:ext>
            </a:extLst>
          </p:cNvPr>
          <p:cNvCxnSpPr>
            <a:cxnSpLocks/>
          </p:cNvCxnSpPr>
          <p:nvPr/>
        </p:nvCxnSpPr>
        <p:spPr>
          <a:xfrm>
            <a:off x="4822466" y="177159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9A99CE04-8A1B-1CDB-79CC-164C0BF9FED7}"/>
              </a:ext>
            </a:extLst>
          </p:cNvPr>
          <p:cNvCxnSpPr/>
          <p:nvPr/>
        </p:nvCxnSpPr>
        <p:spPr>
          <a:xfrm>
            <a:off x="756644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5ADACE68-D5DF-744A-AAF4-D29F6A6DC19E}"/>
              </a:ext>
            </a:extLst>
          </p:cNvPr>
          <p:cNvCxnSpPr/>
          <p:nvPr/>
        </p:nvCxnSpPr>
        <p:spPr>
          <a:xfrm>
            <a:off x="973195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12700900-7206-06D8-7BDD-0B43907BF266}"/>
              </a:ext>
            </a:extLst>
          </p:cNvPr>
          <p:cNvSpPr/>
          <p:nvPr/>
        </p:nvSpPr>
        <p:spPr>
          <a:xfrm>
            <a:off x="982634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模型优化与融合</a:t>
            </a:r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129A5555-646C-D0F2-7D00-CF82F46AF8EF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图片 75">
            <a:extLst>
              <a:ext uri="{FF2B5EF4-FFF2-40B4-BE49-F238E27FC236}">
                <a16:creationId xmlns:a16="http://schemas.microsoft.com/office/drawing/2014/main" id="{DE35C661-20FC-9109-E4B3-4D9373E0B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52" y="1861692"/>
            <a:ext cx="3232826" cy="4358203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62B0E7B7-B28F-0537-6F3E-F271C4255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354" y="1759492"/>
            <a:ext cx="3492707" cy="4460403"/>
          </a:xfrm>
          <a:prstGeom prst="rect">
            <a:avLst/>
          </a:prstGeom>
        </p:spPr>
      </p:pic>
      <p:pic>
        <p:nvPicPr>
          <p:cNvPr id="78" name="图片 77">
            <a:extLst>
              <a:ext uri="{FF2B5EF4-FFF2-40B4-BE49-F238E27FC236}">
                <a16:creationId xmlns:a16="http://schemas.microsoft.com/office/drawing/2014/main" id="{EDE5F25F-F8C5-4A8B-A9FE-6D264F7FD7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704" y="1920898"/>
            <a:ext cx="4172465" cy="4298997"/>
          </a:xfrm>
          <a:prstGeom prst="rect">
            <a:avLst/>
          </a:prstGeom>
        </p:spPr>
      </p:pic>
      <p:sp>
        <p:nvSpPr>
          <p:cNvPr id="79" name="文本框 78">
            <a:extLst>
              <a:ext uri="{FF2B5EF4-FFF2-40B4-BE49-F238E27FC236}">
                <a16:creationId xmlns:a16="http://schemas.microsoft.com/office/drawing/2014/main" id="{F80BFB8A-0CF6-BDCD-CFEF-39338846EF23}"/>
              </a:ext>
            </a:extLst>
          </p:cNvPr>
          <p:cNvSpPr txBox="1"/>
          <p:nvPr/>
        </p:nvSpPr>
        <p:spPr>
          <a:xfrm>
            <a:off x="815825" y="1165097"/>
            <a:ext cx="2241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字段表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4767DEAC-7DCD-C94E-C95A-110657CE337F}"/>
              </a:ext>
            </a:extLst>
          </p:cNvPr>
          <p:cNvSpPr txBox="1"/>
          <p:nvPr/>
        </p:nvSpPr>
        <p:spPr>
          <a:xfrm>
            <a:off x="9309994" y="621989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预测样本字段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0ECDED2-FF23-03FB-6FA2-B11EE5D58BF0}"/>
              </a:ext>
            </a:extLst>
          </p:cNvPr>
          <p:cNvSpPr txBox="1"/>
          <p:nvPr/>
        </p:nvSpPr>
        <p:spPr>
          <a:xfrm>
            <a:off x="1795908" y="629554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线下消费字段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0D16CAB4-B6FA-3156-0CB3-221FD6B9F009}"/>
              </a:ext>
            </a:extLst>
          </p:cNvPr>
          <p:cNvSpPr txBox="1"/>
          <p:nvPr/>
        </p:nvSpPr>
        <p:spPr>
          <a:xfrm>
            <a:off x="5465058" y="6305414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线上消费字段</a:t>
            </a:r>
          </a:p>
        </p:txBody>
      </p:sp>
    </p:spTree>
    <p:extLst>
      <p:ext uri="{BB962C8B-B14F-4D97-AF65-F5344CB8AC3E}">
        <p14:creationId xmlns:p14="http://schemas.microsoft.com/office/powerpoint/2010/main" val="2597153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C81E1-329E-A93D-AFFF-B3B572134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 66">
            <a:extLst>
              <a:ext uri="{FF2B5EF4-FFF2-40B4-BE49-F238E27FC236}">
                <a16:creationId xmlns:a16="http://schemas.microsoft.com/office/drawing/2014/main" id="{D772D8B6-5673-577E-25FB-0B342C25E78B}"/>
              </a:ext>
            </a:extLst>
          </p:cNvPr>
          <p:cNvSpPr/>
          <p:nvPr/>
        </p:nvSpPr>
        <p:spPr>
          <a:xfrm>
            <a:off x="186176" y="-1270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赛题解读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798A8FC-A04E-07C6-D3F3-070AAB7E3B7A}"/>
              </a:ext>
            </a:extLst>
          </p:cNvPr>
          <p:cNvSpPr/>
          <p:nvPr/>
        </p:nvSpPr>
        <p:spPr>
          <a:xfrm>
            <a:off x="516553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数据划分与打标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EF1E74C0-69E1-6701-5E35-0331412C526E}"/>
              </a:ext>
            </a:extLst>
          </p:cNvPr>
          <p:cNvSpPr/>
          <p:nvPr/>
        </p:nvSpPr>
        <p:spPr>
          <a:xfrm>
            <a:off x="7443803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21288E0-4CB3-7F63-B990-19F1DF1011EE}"/>
              </a:ext>
            </a:extLst>
          </p:cNvPr>
          <p:cNvSpPr/>
          <p:nvPr/>
        </p:nvSpPr>
        <p:spPr>
          <a:xfrm>
            <a:off x="2596218" y="1652"/>
            <a:ext cx="2232000" cy="64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数据分析与预处理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31AE211C-5D20-E42F-5903-24C4CCE217A0}"/>
              </a:ext>
            </a:extLst>
          </p:cNvPr>
          <p:cNvCxnSpPr>
            <a:cxnSpLocks/>
          </p:cNvCxnSpPr>
          <p:nvPr/>
        </p:nvCxnSpPr>
        <p:spPr>
          <a:xfrm>
            <a:off x="4822466" y="177159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3D2C9DC4-0C3A-F618-0E2E-7B192E641BEE}"/>
              </a:ext>
            </a:extLst>
          </p:cNvPr>
          <p:cNvCxnSpPr/>
          <p:nvPr/>
        </p:nvCxnSpPr>
        <p:spPr>
          <a:xfrm>
            <a:off x="756644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13249EAA-8EBF-10A8-4704-D18E8F3332EF}"/>
              </a:ext>
            </a:extLst>
          </p:cNvPr>
          <p:cNvCxnSpPr/>
          <p:nvPr/>
        </p:nvCxnSpPr>
        <p:spPr>
          <a:xfrm>
            <a:off x="973195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91ED157B-BF69-8CAD-A800-6DD40CB24DA2}"/>
              </a:ext>
            </a:extLst>
          </p:cNvPr>
          <p:cNvSpPr/>
          <p:nvPr/>
        </p:nvSpPr>
        <p:spPr>
          <a:xfrm>
            <a:off x="982634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模型优化与融合</a:t>
            </a:r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2E00E132-76A1-18C0-A312-DAF96523F572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6F587FD6-0435-DA7C-D194-DD862CFDB6F7}"/>
              </a:ext>
            </a:extLst>
          </p:cNvPr>
          <p:cNvSpPr txBox="1"/>
          <p:nvPr/>
        </p:nvSpPr>
        <p:spPr>
          <a:xfrm>
            <a:off x="705822" y="975145"/>
            <a:ext cx="2241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缺失值情况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9EB24D5-CC7D-C504-7CB5-39FDD120FD69}"/>
              </a:ext>
            </a:extLst>
          </p:cNvPr>
          <p:cNvCxnSpPr/>
          <p:nvPr/>
        </p:nvCxnSpPr>
        <p:spPr>
          <a:xfrm>
            <a:off x="548907" y="85907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CC41E6EC-D911-8EAF-CE1A-32B5FBD05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90" y="2446646"/>
            <a:ext cx="4168772" cy="307532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D7B6075-B8A2-772D-A15A-B3E773564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858" y="2291057"/>
            <a:ext cx="3865355" cy="270896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E03B73E-C75F-FF91-C580-82663CE53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213" y="2434256"/>
            <a:ext cx="3924848" cy="1238423"/>
          </a:xfrm>
          <a:prstGeom prst="rect">
            <a:avLst/>
          </a:prstGeom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06284F4-5E97-6F93-DD17-884EC3E672C4}"/>
              </a:ext>
            </a:extLst>
          </p:cNvPr>
          <p:cNvCxnSpPr/>
          <p:nvPr/>
        </p:nvCxnSpPr>
        <p:spPr>
          <a:xfrm>
            <a:off x="4199391" y="1897552"/>
            <a:ext cx="0" cy="4764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A93D1D3-E98B-B825-1645-1C8E999D14B7}"/>
              </a:ext>
            </a:extLst>
          </p:cNvPr>
          <p:cNvCxnSpPr/>
          <p:nvPr/>
        </p:nvCxnSpPr>
        <p:spPr>
          <a:xfrm>
            <a:off x="7920014" y="1897552"/>
            <a:ext cx="0" cy="4764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A4CCC33-E805-38A5-30F7-6F059615BA07}"/>
              </a:ext>
            </a:extLst>
          </p:cNvPr>
          <p:cNvSpPr txBox="1"/>
          <p:nvPr/>
        </p:nvSpPr>
        <p:spPr>
          <a:xfrm>
            <a:off x="1551190" y="1822751"/>
            <a:ext cx="2090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线下数据集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4D4298C-7A2C-A897-1CBA-C4B0815CD0B4}"/>
              </a:ext>
            </a:extLst>
          </p:cNvPr>
          <p:cNvSpPr txBox="1"/>
          <p:nvPr/>
        </p:nvSpPr>
        <p:spPr>
          <a:xfrm>
            <a:off x="5014675" y="1822751"/>
            <a:ext cx="2090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线上数据集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619B6F1-6E19-0FD4-13BB-49CAC23F375D}"/>
              </a:ext>
            </a:extLst>
          </p:cNvPr>
          <p:cNvSpPr txBox="1"/>
          <p:nvPr/>
        </p:nvSpPr>
        <p:spPr>
          <a:xfrm>
            <a:off x="9247412" y="1822751"/>
            <a:ext cx="2090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测试集</a:t>
            </a:r>
          </a:p>
        </p:txBody>
      </p:sp>
    </p:spTree>
    <p:extLst>
      <p:ext uri="{BB962C8B-B14F-4D97-AF65-F5344CB8AC3E}">
        <p14:creationId xmlns:p14="http://schemas.microsoft.com/office/powerpoint/2010/main" val="1118272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2498A-8604-8646-E120-18E49E221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 66">
            <a:extLst>
              <a:ext uri="{FF2B5EF4-FFF2-40B4-BE49-F238E27FC236}">
                <a16:creationId xmlns:a16="http://schemas.microsoft.com/office/drawing/2014/main" id="{E634BD46-33B2-88EB-6CF7-816E5A79C90C}"/>
              </a:ext>
            </a:extLst>
          </p:cNvPr>
          <p:cNvSpPr/>
          <p:nvPr/>
        </p:nvSpPr>
        <p:spPr>
          <a:xfrm>
            <a:off x="186176" y="-1270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赛题解读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6D945C8-2C3F-0230-8737-9B9DBF7CF60E}"/>
              </a:ext>
            </a:extLst>
          </p:cNvPr>
          <p:cNvSpPr/>
          <p:nvPr/>
        </p:nvSpPr>
        <p:spPr>
          <a:xfrm>
            <a:off x="516553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数据划分与打标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4DF155F9-0796-C424-1793-64336C0DB607}"/>
              </a:ext>
            </a:extLst>
          </p:cNvPr>
          <p:cNvSpPr/>
          <p:nvPr/>
        </p:nvSpPr>
        <p:spPr>
          <a:xfrm>
            <a:off x="7443803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94035A1-0E4F-2062-72C5-CD2E6F7DC07D}"/>
              </a:ext>
            </a:extLst>
          </p:cNvPr>
          <p:cNvSpPr/>
          <p:nvPr/>
        </p:nvSpPr>
        <p:spPr>
          <a:xfrm>
            <a:off x="2596218" y="1652"/>
            <a:ext cx="2232000" cy="64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数据分析与预处理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E4E1385F-7B30-79FB-867F-689D9D205F49}"/>
              </a:ext>
            </a:extLst>
          </p:cNvPr>
          <p:cNvCxnSpPr>
            <a:cxnSpLocks/>
          </p:cNvCxnSpPr>
          <p:nvPr/>
        </p:nvCxnSpPr>
        <p:spPr>
          <a:xfrm>
            <a:off x="4822466" y="177159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E3BA9580-282D-9D4A-2F3E-A1FEBF6CE923}"/>
              </a:ext>
            </a:extLst>
          </p:cNvPr>
          <p:cNvCxnSpPr/>
          <p:nvPr/>
        </p:nvCxnSpPr>
        <p:spPr>
          <a:xfrm>
            <a:off x="756644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07538008-2F02-8E3D-1E13-0FEBC264BA8D}"/>
              </a:ext>
            </a:extLst>
          </p:cNvPr>
          <p:cNvCxnSpPr/>
          <p:nvPr/>
        </p:nvCxnSpPr>
        <p:spPr>
          <a:xfrm>
            <a:off x="973195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79D589ED-FA7F-4938-686B-F17CDC497614}"/>
              </a:ext>
            </a:extLst>
          </p:cNvPr>
          <p:cNvSpPr/>
          <p:nvPr/>
        </p:nvSpPr>
        <p:spPr>
          <a:xfrm>
            <a:off x="982634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模型优化与融合</a:t>
            </a:r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F462D21E-B0BD-04E0-43F7-CFFE4376746E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F87FAEDE-364D-E993-0B3E-7FF0E20C6263}"/>
              </a:ext>
            </a:extLst>
          </p:cNvPr>
          <p:cNvSpPr txBox="1"/>
          <p:nvPr/>
        </p:nvSpPr>
        <p:spPr>
          <a:xfrm>
            <a:off x="705822" y="975145"/>
            <a:ext cx="2241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62E93CCB-610D-9732-8D86-B0BCCCF63DBE}"/>
              </a:ext>
            </a:extLst>
          </p:cNvPr>
          <p:cNvCxnSpPr/>
          <p:nvPr/>
        </p:nvCxnSpPr>
        <p:spPr>
          <a:xfrm>
            <a:off x="548907" y="85907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71C7F69E-A42D-312B-182B-654A188321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805" y="929342"/>
            <a:ext cx="8627006" cy="592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988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07C56-FBCB-4996-7ABE-E7491E359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 66">
            <a:extLst>
              <a:ext uri="{FF2B5EF4-FFF2-40B4-BE49-F238E27FC236}">
                <a16:creationId xmlns:a16="http://schemas.microsoft.com/office/drawing/2014/main" id="{83A3F46C-EFF9-08DB-26B2-41E7D1AB5100}"/>
              </a:ext>
            </a:extLst>
          </p:cNvPr>
          <p:cNvSpPr/>
          <p:nvPr/>
        </p:nvSpPr>
        <p:spPr>
          <a:xfrm>
            <a:off x="186176" y="-1270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赛题解读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3DC6E9F-25DF-BE2F-BC32-F9D599F95125}"/>
              </a:ext>
            </a:extLst>
          </p:cNvPr>
          <p:cNvSpPr/>
          <p:nvPr/>
        </p:nvSpPr>
        <p:spPr>
          <a:xfrm>
            <a:off x="516553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数据划分与打标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51A7BB4-68BA-0230-A359-25A2B17DB75D}"/>
              </a:ext>
            </a:extLst>
          </p:cNvPr>
          <p:cNvSpPr/>
          <p:nvPr/>
        </p:nvSpPr>
        <p:spPr>
          <a:xfrm>
            <a:off x="7443803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A37C4F9-8AEF-0DD2-E1FA-8E21868F776C}"/>
              </a:ext>
            </a:extLst>
          </p:cNvPr>
          <p:cNvSpPr/>
          <p:nvPr/>
        </p:nvSpPr>
        <p:spPr>
          <a:xfrm>
            <a:off x="2596218" y="1652"/>
            <a:ext cx="2232000" cy="64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数据分析与预处理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26AE2B0A-D271-ED82-FE54-0639AD1C38E7}"/>
              </a:ext>
            </a:extLst>
          </p:cNvPr>
          <p:cNvCxnSpPr>
            <a:cxnSpLocks/>
          </p:cNvCxnSpPr>
          <p:nvPr/>
        </p:nvCxnSpPr>
        <p:spPr>
          <a:xfrm>
            <a:off x="4822466" y="177159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3FE02C8E-132E-27B6-8C85-A3231AA89E58}"/>
              </a:ext>
            </a:extLst>
          </p:cNvPr>
          <p:cNvCxnSpPr/>
          <p:nvPr/>
        </p:nvCxnSpPr>
        <p:spPr>
          <a:xfrm>
            <a:off x="756644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500CEFED-A5A1-3464-24EA-904FEE82514F}"/>
              </a:ext>
            </a:extLst>
          </p:cNvPr>
          <p:cNvCxnSpPr/>
          <p:nvPr/>
        </p:nvCxnSpPr>
        <p:spPr>
          <a:xfrm>
            <a:off x="973195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7C38CE25-F0BF-EB8A-A45E-A665E4B3A1E2}"/>
              </a:ext>
            </a:extLst>
          </p:cNvPr>
          <p:cNvSpPr/>
          <p:nvPr/>
        </p:nvSpPr>
        <p:spPr>
          <a:xfrm>
            <a:off x="982634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模型优化与融合</a:t>
            </a:r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4191CFE6-B74F-1D22-EAAA-722891849585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A3C205A1-67BF-58D6-4248-92D74434A926}"/>
              </a:ext>
            </a:extLst>
          </p:cNvPr>
          <p:cNvSpPr txBox="1"/>
          <p:nvPr/>
        </p:nvSpPr>
        <p:spPr>
          <a:xfrm>
            <a:off x="705822" y="975145"/>
            <a:ext cx="2241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60A2653-D9BF-FA08-AC6F-544593768A97}"/>
              </a:ext>
            </a:extLst>
          </p:cNvPr>
          <p:cNvCxnSpPr/>
          <p:nvPr/>
        </p:nvCxnSpPr>
        <p:spPr>
          <a:xfrm>
            <a:off x="548907" y="85907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715BAB21-860F-46A0-999D-315E5BD9D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22" y="1491322"/>
            <a:ext cx="11294669" cy="291911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B88C452-1424-1D14-E17F-5AEAF0B187FF}"/>
              </a:ext>
            </a:extLst>
          </p:cNvPr>
          <p:cNvSpPr txBox="1"/>
          <p:nvPr/>
        </p:nvSpPr>
        <p:spPr>
          <a:xfrm>
            <a:off x="850000" y="4720347"/>
            <a:ext cx="10863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、对于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User_id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Merchant_id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线下数据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重合度达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99.99%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，但与线上数据集重合度很低，其中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Merchant_id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重合度为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（特征构造更多考虑线下数据集）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0B8991F-B598-9BBC-D22B-EE517EF4781E}"/>
              </a:ext>
            </a:extLst>
          </p:cNvPr>
          <p:cNvSpPr txBox="1"/>
          <p:nvPr/>
        </p:nvSpPr>
        <p:spPr>
          <a:xfrm>
            <a:off x="850000" y="5493852"/>
            <a:ext cx="10863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、对于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Coupon_id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，线下数据集中只有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54.5%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的优惠券在测试集中出现过，意味着有一半的预测任务是针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全新的、未见过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的优惠券。同时模型必须更强地依赖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“通用”特征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，比如用户特征、商家特征、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以及用户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商家之间的交叉特征。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6057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92197-3840-0976-B09C-7362F4BA5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 66">
            <a:extLst>
              <a:ext uri="{FF2B5EF4-FFF2-40B4-BE49-F238E27FC236}">
                <a16:creationId xmlns:a16="http://schemas.microsoft.com/office/drawing/2014/main" id="{BE41A1D2-B2AB-4AB1-B1FA-3D9553E8CCFD}"/>
              </a:ext>
            </a:extLst>
          </p:cNvPr>
          <p:cNvSpPr/>
          <p:nvPr/>
        </p:nvSpPr>
        <p:spPr>
          <a:xfrm>
            <a:off x="186176" y="-1270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赛题解读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6C631A4-F9E8-8599-B26A-D85BEBF9CA6D}"/>
              </a:ext>
            </a:extLst>
          </p:cNvPr>
          <p:cNvSpPr/>
          <p:nvPr/>
        </p:nvSpPr>
        <p:spPr>
          <a:xfrm>
            <a:off x="516553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数据划分与打标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2582CF1-8C3D-5CC3-9F1A-3E648F4D100D}"/>
              </a:ext>
            </a:extLst>
          </p:cNvPr>
          <p:cNvSpPr/>
          <p:nvPr/>
        </p:nvSpPr>
        <p:spPr>
          <a:xfrm>
            <a:off x="7443803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5B1DAEF-D502-96E4-A8BB-85631AAE2D5B}"/>
              </a:ext>
            </a:extLst>
          </p:cNvPr>
          <p:cNvSpPr/>
          <p:nvPr/>
        </p:nvSpPr>
        <p:spPr>
          <a:xfrm>
            <a:off x="2596218" y="1652"/>
            <a:ext cx="2232000" cy="64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数据分析与预处理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B91123B8-93A0-859F-6A10-9946EAD7C12D}"/>
              </a:ext>
            </a:extLst>
          </p:cNvPr>
          <p:cNvCxnSpPr>
            <a:cxnSpLocks/>
          </p:cNvCxnSpPr>
          <p:nvPr/>
        </p:nvCxnSpPr>
        <p:spPr>
          <a:xfrm>
            <a:off x="4822466" y="177159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76D3177A-5D2B-B09B-7273-87A254BCC91A}"/>
              </a:ext>
            </a:extLst>
          </p:cNvPr>
          <p:cNvCxnSpPr/>
          <p:nvPr/>
        </p:nvCxnSpPr>
        <p:spPr>
          <a:xfrm>
            <a:off x="756644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BED38DFF-4296-CF84-045C-E2B0F9C32422}"/>
              </a:ext>
            </a:extLst>
          </p:cNvPr>
          <p:cNvCxnSpPr/>
          <p:nvPr/>
        </p:nvCxnSpPr>
        <p:spPr>
          <a:xfrm>
            <a:off x="973195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8B1BB457-9D28-2B21-D2D0-C2DD3BD51986}"/>
              </a:ext>
            </a:extLst>
          </p:cNvPr>
          <p:cNvSpPr/>
          <p:nvPr/>
        </p:nvSpPr>
        <p:spPr>
          <a:xfrm>
            <a:off x="982634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模型优化与融合</a:t>
            </a:r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DD6D9139-27FE-ECF4-D971-C11D323A760C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B6BDFC52-9910-96F4-BD7C-2AAF0FC113A6}"/>
              </a:ext>
            </a:extLst>
          </p:cNvPr>
          <p:cNvSpPr txBox="1"/>
          <p:nvPr/>
        </p:nvSpPr>
        <p:spPr>
          <a:xfrm>
            <a:off x="705822" y="975145"/>
            <a:ext cx="2241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1CFD32EF-0C9D-83FC-1F9E-49AC670F2440}"/>
              </a:ext>
            </a:extLst>
          </p:cNvPr>
          <p:cNvCxnSpPr/>
          <p:nvPr/>
        </p:nvCxnSpPr>
        <p:spPr>
          <a:xfrm>
            <a:off x="548907" y="85907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A16A9859-0370-44C3-620C-D8BA4520E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22" y="1375255"/>
            <a:ext cx="2556757" cy="252595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CFB004A-51E5-CE07-7B2A-2422E32C1959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419493" y="1491322"/>
            <a:ext cx="2556000" cy="24321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61883BA-43C0-C008-DDDC-FE80FB78193C}"/>
              </a:ext>
            </a:extLst>
          </p:cNvPr>
          <p:cNvSpPr txBox="1"/>
          <p:nvPr/>
        </p:nvSpPr>
        <p:spPr>
          <a:xfrm>
            <a:off x="6209410" y="1698814"/>
            <a:ext cx="4967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核销率与距离的关系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：随着用户与商家之间   的距离增加，核销率下降很多。考虑围绕“距离”构造特征。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F531186-AD45-59CF-9065-0D2772CCACE4}"/>
              </a:ext>
            </a:extLst>
          </p:cNvPr>
          <p:cNvSpPr txBox="1"/>
          <p:nvPr/>
        </p:nvSpPr>
        <p:spPr>
          <a:xfrm>
            <a:off x="6209578" y="2862323"/>
            <a:ext cx="4967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领券时间和核销时间的关系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：绝大多数的核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销行为发生在领券后的五天以内。时间间隔拉长，核销可能性也就更低。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4D799FC-0054-376C-1F55-CD547C3FA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50" y="4130298"/>
            <a:ext cx="2673029" cy="258520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0D3CF4B-CAB1-199B-E2E5-E19CC3E2C0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4168" y="4252394"/>
            <a:ext cx="2555999" cy="2330942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8AEB2E2-8F2E-5C3C-0D34-728A14425E4A}"/>
              </a:ext>
            </a:extLst>
          </p:cNvPr>
          <p:cNvSpPr/>
          <p:nvPr/>
        </p:nvSpPr>
        <p:spPr>
          <a:xfrm>
            <a:off x="6209410" y="1617368"/>
            <a:ext cx="4967021" cy="2237738"/>
          </a:xfrm>
          <a:prstGeom prst="roundRect">
            <a:avLst>
              <a:gd name="adj" fmla="val 3496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E104A15-55F6-1988-D265-EA0FFE71E32F}"/>
              </a:ext>
            </a:extLst>
          </p:cNvPr>
          <p:cNvSpPr txBox="1"/>
          <p:nvPr/>
        </p:nvSpPr>
        <p:spPr>
          <a:xfrm>
            <a:off x="6209409" y="4634591"/>
            <a:ext cx="49670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时间周期性特征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周一和周六为领券高峰期且不同月份的领券和核销数量有波动。可将“是否为周末”，“星期几”，“月初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月末”作为特征。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D15BF0D-A823-ED8E-56C7-F5E5FDDD0185}"/>
              </a:ext>
            </a:extLst>
          </p:cNvPr>
          <p:cNvSpPr/>
          <p:nvPr/>
        </p:nvSpPr>
        <p:spPr>
          <a:xfrm>
            <a:off x="6209410" y="4564845"/>
            <a:ext cx="4967021" cy="1433779"/>
          </a:xfrm>
          <a:prstGeom prst="roundRect">
            <a:avLst>
              <a:gd name="adj" fmla="val 3496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942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-1511"/>
            <a:ext cx="2419797" cy="648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0318DD-2777-67CE-998C-08A39F0B71F1}"/>
              </a:ext>
            </a:extLst>
          </p:cNvPr>
          <p:cNvSpPr/>
          <p:nvPr/>
        </p:nvSpPr>
        <p:spPr>
          <a:xfrm>
            <a:off x="186176" y="-1270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赛题解读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A7E3A5-9BD8-36B1-2B09-02FC47F86BBC}"/>
              </a:ext>
            </a:extLst>
          </p:cNvPr>
          <p:cNvSpPr/>
          <p:nvPr/>
        </p:nvSpPr>
        <p:spPr>
          <a:xfrm>
            <a:off x="516553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数据划分与打标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929662-320A-4EA9-0E87-28D2A61FD326}"/>
              </a:ext>
            </a:extLst>
          </p:cNvPr>
          <p:cNvSpPr/>
          <p:nvPr/>
        </p:nvSpPr>
        <p:spPr>
          <a:xfrm>
            <a:off x="7443803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1D1B11B-CDBC-52B9-ED3D-4A8DD2A408FC}"/>
              </a:ext>
            </a:extLst>
          </p:cNvPr>
          <p:cNvSpPr/>
          <p:nvPr/>
        </p:nvSpPr>
        <p:spPr>
          <a:xfrm>
            <a:off x="2596218" y="1652"/>
            <a:ext cx="2232000" cy="64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数据分析与预处理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02D926B-86A6-4F9A-2AFC-03506101CC0B}"/>
              </a:ext>
            </a:extLst>
          </p:cNvPr>
          <p:cNvCxnSpPr>
            <a:cxnSpLocks/>
          </p:cNvCxnSpPr>
          <p:nvPr/>
        </p:nvCxnSpPr>
        <p:spPr>
          <a:xfrm>
            <a:off x="4822466" y="177159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2C10886-8BC0-D7C1-F5DA-80636D6EDABC}"/>
              </a:ext>
            </a:extLst>
          </p:cNvPr>
          <p:cNvCxnSpPr/>
          <p:nvPr/>
        </p:nvCxnSpPr>
        <p:spPr>
          <a:xfrm>
            <a:off x="756644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D8FE473-E66E-E657-5C9E-F257315F11E7}"/>
              </a:ext>
            </a:extLst>
          </p:cNvPr>
          <p:cNvCxnSpPr/>
          <p:nvPr/>
        </p:nvCxnSpPr>
        <p:spPr>
          <a:xfrm>
            <a:off x="973195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20FF7A32-0135-AFD9-1786-DEA9F31085A9}"/>
              </a:ext>
            </a:extLst>
          </p:cNvPr>
          <p:cNvSpPr/>
          <p:nvPr/>
        </p:nvSpPr>
        <p:spPr>
          <a:xfrm>
            <a:off x="982634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模型优化与融合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6771E08-1437-F289-826F-6B553061AE3D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88F0FBE-5277-3EC0-6E6D-BFC1E48A76FD}"/>
              </a:ext>
            </a:extLst>
          </p:cNvPr>
          <p:cNvSpPr txBox="1"/>
          <p:nvPr/>
        </p:nvSpPr>
        <p:spPr>
          <a:xfrm>
            <a:off x="705822" y="975145"/>
            <a:ext cx="2241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2D59951-935F-81C1-C862-263B498A961E}"/>
              </a:ext>
            </a:extLst>
          </p:cNvPr>
          <p:cNvCxnSpPr/>
          <p:nvPr/>
        </p:nvCxnSpPr>
        <p:spPr>
          <a:xfrm>
            <a:off x="548907" y="85907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FA824487-FC6B-CF2B-585A-9DC8C646438D}"/>
              </a:ext>
            </a:extLst>
          </p:cNvPr>
          <p:cNvSpPr txBox="1"/>
          <p:nvPr/>
        </p:nvSpPr>
        <p:spPr>
          <a:xfrm>
            <a:off x="764343" y="1063919"/>
            <a:ext cx="10022985" cy="561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zh-CN" altLang="en-US" dirty="0"/>
            </a:b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 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时间处理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方便计算时间方面的特征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Date_received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这列元素转换为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datetime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类型。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这列元素转换为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datetime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类型。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折扣处理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判断折扣率是“满减”还是“折扣率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将“满减”折扣转换为“折扣率”形式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10:1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0.9);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得到“满减”折扣的最低消费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  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距离处理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将空距离填充为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区别于距离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0,1,2,3,4,5,6,7,8,9,10);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判断是否为空距离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4712" y="3274178"/>
            <a:ext cx="50321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数据划分与打标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55244" y="1807200"/>
            <a:ext cx="17043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600" b="1" dirty="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9600" b="1" dirty="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6613693" y="1254294"/>
            <a:ext cx="6858002" cy="4349415"/>
          </a:xfrm>
          <a:custGeom>
            <a:avLst/>
            <a:gdLst>
              <a:gd name="connsiteX0" fmla="*/ 6858002 w 6858002"/>
              <a:gd name="connsiteY0" fmla="*/ 3312906 h 4349415"/>
              <a:gd name="connsiteX1" fmla="*/ 6858002 w 6858002"/>
              <a:gd name="connsiteY1" fmla="*/ 1637677 h 4349415"/>
              <a:gd name="connsiteX2" fmla="*/ 6858000 w 6858002"/>
              <a:gd name="connsiteY2" fmla="*/ 1637677 h 4349415"/>
              <a:gd name="connsiteX3" fmla="*/ 6858000 w 6858002"/>
              <a:gd name="connsiteY3" fmla="*/ 0 h 4349415"/>
              <a:gd name="connsiteX4" fmla="*/ 0 w 6858002"/>
              <a:gd name="connsiteY4" fmla="*/ 0 h 4349415"/>
              <a:gd name="connsiteX5" fmla="*/ 0 w 6858002"/>
              <a:gd name="connsiteY5" fmla="*/ 2472268 h 4349415"/>
              <a:gd name="connsiteX6" fmla="*/ 2 w 6858002"/>
              <a:gd name="connsiteY6" fmla="*/ 2472268 h 4349415"/>
              <a:gd name="connsiteX7" fmla="*/ 2 w 6858002"/>
              <a:gd name="connsiteY7" fmla="*/ 3313334 h 4349415"/>
              <a:gd name="connsiteX8" fmla="*/ 12723 w 6858002"/>
              <a:gd name="connsiteY8" fmla="*/ 3323302 h 4349415"/>
              <a:gd name="connsiteX9" fmla="*/ 3428728 w 6858002"/>
              <a:gd name="connsiteY9" fmla="*/ 4349415 h 4349415"/>
              <a:gd name="connsiteX10" fmla="*/ 6844733 w 6858002"/>
              <a:gd name="connsiteY10" fmla="*/ 3323302 h 434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2" h="4349415">
                <a:moveTo>
                  <a:pt x="6858002" y="3312906"/>
                </a:moveTo>
                <a:lnTo>
                  <a:pt x="6858002" y="1637677"/>
                </a:lnTo>
                <a:lnTo>
                  <a:pt x="6858000" y="1637677"/>
                </a:lnTo>
                <a:lnTo>
                  <a:pt x="6858000" y="0"/>
                </a:lnTo>
                <a:lnTo>
                  <a:pt x="0" y="0"/>
                </a:lnTo>
                <a:lnTo>
                  <a:pt x="0" y="2472268"/>
                </a:lnTo>
                <a:lnTo>
                  <a:pt x="2" y="2472268"/>
                </a:lnTo>
                <a:lnTo>
                  <a:pt x="2" y="3313334"/>
                </a:lnTo>
                <a:lnTo>
                  <a:pt x="12723" y="3323302"/>
                </a:lnTo>
                <a:cubicBezTo>
                  <a:pt x="856910" y="3953665"/>
                  <a:pt x="2074722" y="4349415"/>
                  <a:pt x="3428728" y="4349415"/>
                </a:cubicBezTo>
                <a:cubicBezTo>
                  <a:pt x="4782735" y="4349415"/>
                  <a:pt x="6000546" y="3953665"/>
                  <a:pt x="6844733" y="332330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6984865" y="2565000"/>
            <a:ext cx="1728000" cy="1728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博士帽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91400" y="2971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301A28F-0706-4E92-0DB1-4BE7539FF61F}"/>
              </a:ext>
            </a:extLst>
          </p:cNvPr>
          <p:cNvSpPr/>
          <p:nvPr/>
        </p:nvSpPr>
        <p:spPr>
          <a:xfrm>
            <a:off x="0" y="-1511"/>
            <a:ext cx="2419797" cy="648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01949C4-D4AD-CEEA-8DBB-8B2E6124B70E}"/>
              </a:ext>
            </a:extLst>
          </p:cNvPr>
          <p:cNvSpPr/>
          <p:nvPr/>
        </p:nvSpPr>
        <p:spPr>
          <a:xfrm>
            <a:off x="186176" y="-1270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赛题解读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53BCE6-451B-65D0-3119-7D048691C071}"/>
              </a:ext>
            </a:extLst>
          </p:cNvPr>
          <p:cNvSpPr/>
          <p:nvPr/>
        </p:nvSpPr>
        <p:spPr>
          <a:xfrm>
            <a:off x="5165536" y="1652"/>
            <a:ext cx="2232000" cy="64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数据划分与打标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DE6E04-5A6D-B822-F7FA-8C27559924DA}"/>
              </a:ext>
            </a:extLst>
          </p:cNvPr>
          <p:cNvSpPr/>
          <p:nvPr/>
        </p:nvSpPr>
        <p:spPr>
          <a:xfrm>
            <a:off x="7443803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27B18E7-A3DA-E45D-03E5-A0FFEB520158}"/>
              </a:ext>
            </a:extLst>
          </p:cNvPr>
          <p:cNvSpPr/>
          <p:nvPr/>
        </p:nvSpPr>
        <p:spPr>
          <a:xfrm>
            <a:off x="2596218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数据分析与预处理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00F47FA-BF79-E410-DF73-82C754A312BA}"/>
              </a:ext>
            </a:extLst>
          </p:cNvPr>
          <p:cNvCxnSpPr/>
          <p:nvPr/>
        </p:nvCxnSpPr>
        <p:spPr>
          <a:xfrm>
            <a:off x="973195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CDA9E056-0062-2B77-DE1F-D37E843AC05E}"/>
              </a:ext>
            </a:extLst>
          </p:cNvPr>
          <p:cNvSpPr/>
          <p:nvPr/>
        </p:nvSpPr>
        <p:spPr>
          <a:xfrm>
            <a:off x="982634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模型优化与融合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EA24550-3A1C-A721-AB4C-9AD05C7E96A5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8BDEE05-1A30-F298-E8F8-F48BAFB66B1F}"/>
              </a:ext>
            </a:extLst>
          </p:cNvPr>
          <p:cNvCxnSpPr/>
          <p:nvPr/>
        </p:nvCxnSpPr>
        <p:spPr>
          <a:xfrm>
            <a:off x="2314771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F3B862EC-3C52-A959-60F2-8D55A3C709EC}"/>
              </a:ext>
            </a:extLst>
          </p:cNvPr>
          <p:cNvSpPr txBox="1"/>
          <p:nvPr/>
        </p:nvSpPr>
        <p:spPr>
          <a:xfrm>
            <a:off x="705822" y="975145"/>
            <a:ext cx="2241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数据划分与打标</a:t>
            </a: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74000D54-EBC8-B4DC-1D01-076516D87DE4}"/>
              </a:ext>
            </a:extLst>
          </p:cNvPr>
          <p:cNvCxnSpPr/>
          <p:nvPr/>
        </p:nvCxnSpPr>
        <p:spPr>
          <a:xfrm>
            <a:off x="548907" y="85907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08F47281-4A24-15FE-E4A1-26EDF900D71E}"/>
              </a:ext>
            </a:extLst>
          </p:cNvPr>
          <p:cNvSpPr txBox="1"/>
          <p:nvPr/>
        </p:nvSpPr>
        <p:spPr>
          <a:xfrm>
            <a:off x="705822" y="1472682"/>
            <a:ext cx="11096554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赛题所给数据为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时间序列数据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，我们需要基于历史数据去预测未来发生的事。为了防止数据泄露，需要采用时间窗口划分法去划分数据集。</a:t>
            </a: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D8B130EE-1A70-327C-5204-FA0481FD6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76" y="2559569"/>
            <a:ext cx="6370822" cy="3624710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D0846DF8-5375-81FB-FE63-D1FBEDE957C2}"/>
              </a:ext>
            </a:extLst>
          </p:cNvPr>
          <p:cNvSpPr txBox="1"/>
          <p:nvPr/>
        </p:nvSpPr>
        <p:spPr>
          <a:xfrm>
            <a:off x="8815261" y="6172584"/>
            <a:ext cx="1242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数据打标</a:t>
            </a: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3726FE53-1881-35FE-253C-DEC09D165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2850" y="2486077"/>
            <a:ext cx="4786963" cy="3006339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659533FA-E03B-CA85-D76F-61D5424A1B89}"/>
              </a:ext>
            </a:extLst>
          </p:cNvPr>
          <p:cNvSpPr txBox="1"/>
          <p:nvPr/>
        </p:nvSpPr>
        <p:spPr>
          <a:xfrm>
            <a:off x="3091148" y="6275223"/>
            <a:ext cx="1242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数据划分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6E363-BB36-F54B-CCEB-D01618E9A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27D4A23-25A6-9C2E-00FB-9A4F042953A7}"/>
              </a:ext>
            </a:extLst>
          </p:cNvPr>
          <p:cNvSpPr txBox="1"/>
          <p:nvPr/>
        </p:nvSpPr>
        <p:spPr>
          <a:xfrm>
            <a:off x="884712" y="3274178"/>
            <a:ext cx="29546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151B6D-3D73-477A-339F-E6A9F5155C7C}"/>
              </a:ext>
            </a:extLst>
          </p:cNvPr>
          <p:cNvSpPr txBox="1"/>
          <p:nvPr/>
        </p:nvSpPr>
        <p:spPr>
          <a:xfrm>
            <a:off x="955244" y="1807200"/>
            <a:ext cx="17043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600" b="1" dirty="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9600" b="1" dirty="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9241F13E-FAB4-8EF1-0B1B-7CA083F6396A}"/>
              </a:ext>
            </a:extLst>
          </p:cNvPr>
          <p:cNvSpPr/>
          <p:nvPr/>
        </p:nvSpPr>
        <p:spPr>
          <a:xfrm rot="5400000" flipH="1">
            <a:off x="6613693" y="1254294"/>
            <a:ext cx="6858002" cy="4349415"/>
          </a:xfrm>
          <a:custGeom>
            <a:avLst/>
            <a:gdLst>
              <a:gd name="connsiteX0" fmla="*/ 6858002 w 6858002"/>
              <a:gd name="connsiteY0" fmla="*/ 3312906 h 4349415"/>
              <a:gd name="connsiteX1" fmla="*/ 6858002 w 6858002"/>
              <a:gd name="connsiteY1" fmla="*/ 1637677 h 4349415"/>
              <a:gd name="connsiteX2" fmla="*/ 6858000 w 6858002"/>
              <a:gd name="connsiteY2" fmla="*/ 1637677 h 4349415"/>
              <a:gd name="connsiteX3" fmla="*/ 6858000 w 6858002"/>
              <a:gd name="connsiteY3" fmla="*/ 0 h 4349415"/>
              <a:gd name="connsiteX4" fmla="*/ 0 w 6858002"/>
              <a:gd name="connsiteY4" fmla="*/ 0 h 4349415"/>
              <a:gd name="connsiteX5" fmla="*/ 0 w 6858002"/>
              <a:gd name="connsiteY5" fmla="*/ 2472268 h 4349415"/>
              <a:gd name="connsiteX6" fmla="*/ 2 w 6858002"/>
              <a:gd name="connsiteY6" fmla="*/ 2472268 h 4349415"/>
              <a:gd name="connsiteX7" fmla="*/ 2 w 6858002"/>
              <a:gd name="connsiteY7" fmla="*/ 3313334 h 4349415"/>
              <a:gd name="connsiteX8" fmla="*/ 12723 w 6858002"/>
              <a:gd name="connsiteY8" fmla="*/ 3323302 h 4349415"/>
              <a:gd name="connsiteX9" fmla="*/ 3428728 w 6858002"/>
              <a:gd name="connsiteY9" fmla="*/ 4349415 h 4349415"/>
              <a:gd name="connsiteX10" fmla="*/ 6844733 w 6858002"/>
              <a:gd name="connsiteY10" fmla="*/ 3323302 h 434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2" h="4349415">
                <a:moveTo>
                  <a:pt x="6858002" y="3312906"/>
                </a:moveTo>
                <a:lnTo>
                  <a:pt x="6858002" y="1637677"/>
                </a:lnTo>
                <a:lnTo>
                  <a:pt x="6858000" y="1637677"/>
                </a:lnTo>
                <a:lnTo>
                  <a:pt x="6858000" y="0"/>
                </a:lnTo>
                <a:lnTo>
                  <a:pt x="0" y="0"/>
                </a:lnTo>
                <a:lnTo>
                  <a:pt x="0" y="2472268"/>
                </a:lnTo>
                <a:lnTo>
                  <a:pt x="2" y="2472268"/>
                </a:lnTo>
                <a:lnTo>
                  <a:pt x="2" y="3313334"/>
                </a:lnTo>
                <a:lnTo>
                  <a:pt x="12723" y="3323302"/>
                </a:lnTo>
                <a:cubicBezTo>
                  <a:pt x="856910" y="3953665"/>
                  <a:pt x="2074722" y="4349415"/>
                  <a:pt x="3428728" y="4349415"/>
                </a:cubicBezTo>
                <a:cubicBezTo>
                  <a:pt x="4782735" y="4349415"/>
                  <a:pt x="6000546" y="3953665"/>
                  <a:pt x="6844733" y="332330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851A027E-C8A9-EEA7-571B-38C4C696A4CB}"/>
              </a:ext>
            </a:extLst>
          </p:cNvPr>
          <p:cNvSpPr/>
          <p:nvPr/>
        </p:nvSpPr>
        <p:spPr>
          <a:xfrm>
            <a:off x="6984865" y="2565000"/>
            <a:ext cx="1728000" cy="1728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博士帽">
            <a:extLst>
              <a:ext uri="{FF2B5EF4-FFF2-40B4-BE49-F238E27FC236}">
                <a16:creationId xmlns:a16="http://schemas.microsoft.com/office/drawing/2014/main" id="{789CC043-DD28-869D-3AC9-5D42AFECE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91400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942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C8655-BB61-A242-7CA0-C2ADBD61D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06AD59A-DF3F-3884-860F-999DDC0C29DD}"/>
              </a:ext>
            </a:extLst>
          </p:cNvPr>
          <p:cNvSpPr/>
          <p:nvPr/>
        </p:nvSpPr>
        <p:spPr>
          <a:xfrm>
            <a:off x="0" y="-1511"/>
            <a:ext cx="2419797" cy="648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8FFAB3-921F-86FE-10BF-461D993B27B5}"/>
              </a:ext>
            </a:extLst>
          </p:cNvPr>
          <p:cNvSpPr/>
          <p:nvPr/>
        </p:nvSpPr>
        <p:spPr>
          <a:xfrm>
            <a:off x="186176" y="-1270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赛题解读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70334A-B3C5-523B-A4A8-0F8D36E51F56}"/>
              </a:ext>
            </a:extLst>
          </p:cNvPr>
          <p:cNvSpPr/>
          <p:nvPr/>
        </p:nvSpPr>
        <p:spPr>
          <a:xfrm>
            <a:off x="516553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数据划分与打标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6C5F9B-D743-FE00-1791-7529AAE17670}"/>
              </a:ext>
            </a:extLst>
          </p:cNvPr>
          <p:cNvSpPr/>
          <p:nvPr/>
        </p:nvSpPr>
        <p:spPr>
          <a:xfrm>
            <a:off x="7443803" y="1652"/>
            <a:ext cx="2232000" cy="64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01E6B76-D70B-3902-A86B-03E04A275446}"/>
              </a:ext>
            </a:extLst>
          </p:cNvPr>
          <p:cNvSpPr/>
          <p:nvPr/>
        </p:nvSpPr>
        <p:spPr>
          <a:xfrm>
            <a:off x="2596218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数据分析与预处理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9D65696-B35B-835D-E45C-838ED72F720F}"/>
              </a:ext>
            </a:extLst>
          </p:cNvPr>
          <p:cNvSpPr/>
          <p:nvPr/>
        </p:nvSpPr>
        <p:spPr>
          <a:xfrm>
            <a:off x="982634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模型优化与融合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1BD8456-C412-462C-4477-4A7C54B941F3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F95B296-9280-564C-CDBB-E400A37FC028}"/>
              </a:ext>
            </a:extLst>
          </p:cNvPr>
          <p:cNvCxnSpPr/>
          <p:nvPr/>
        </p:nvCxnSpPr>
        <p:spPr>
          <a:xfrm>
            <a:off x="2314771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E951105-A455-69EE-4500-0622E05D85D5}"/>
              </a:ext>
            </a:extLst>
          </p:cNvPr>
          <p:cNvCxnSpPr/>
          <p:nvPr/>
        </p:nvCxnSpPr>
        <p:spPr>
          <a:xfrm>
            <a:off x="516222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BD76FA06-CADA-27F0-6BFD-66485C6E13FF}"/>
              </a:ext>
            </a:extLst>
          </p:cNvPr>
          <p:cNvSpPr txBox="1"/>
          <p:nvPr/>
        </p:nvSpPr>
        <p:spPr>
          <a:xfrm>
            <a:off x="692072" y="859078"/>
            <a:ext cx="2491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特征工程（历史区间）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C9683568-5170-D130-4265-D214B1D2835C}"/>
              </a:ext>
            </a:extLst>
          </p:cNvPr>
          <p:cNvCxnSpPr/>
          <p:nvPr/>
        </p:nvCxnSpPr>
        <p:spPr>
          <a:xfrm>
            <a:off x="548907" y="85907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6B76243D-42DC-95D3-7313-5C6AB62FCAE1}"/>
              </a:ext>
            </a:extLst>
          </p:cNvPr>
          <p:cNvSpPr txBox="1"/>
          <p:nvPr/>
        </p:nvSpPr>
        <p:spPr>
          <a:xfrm>
            <a:off x="692072" y="1202236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特征工程决定上限，模型只是逼近这个上限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9E53B24-CD9C-1DC0-1D9F-49114BED9E73}"/>
              </a:ext>
            </a:extLst>
          </p:cNvPr>
          <p:cNvSpPr txBox="1"/>
          <p:nvPr/>
        </p:nvSpPr>
        <p:spPr>
          <a:xfrm>
            <a:off x="572323" y="2124840"/>
            <a:ext cx="2559003" cy="4516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、用户领取优惠券数</a:t>
            </a: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、用户核销数</a:t>
            </a: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、用户未核销数</a:t>
            </a: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、用户核销率</a:t>
            </a: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、用户领取不同商家数</a:t>
            </a: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、用户对领券商家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天内的核销数</a:t>
            </a: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、用户当天领取优惠券数</a:t>
            </a: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、用户当天领取特定优惠券数</a:t>
            </a: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、用户在特定商家的历史核销率</a:t>
            </a: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、用户对不同折扣率的偏好（当前折扣的核销率）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、用户平均核销距离</a:t>
            </a:r>
          </a:p>
          <a:p>
            <a:pPr>
              <a:lnSpc>
                <a:spcPct val="150000"/>
              </a:lnSpc>
            </a:pP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F315C77-41BC-1643-7BB9-A2F3B864EA65}"/>
              </a:ext>
            </a:extLst>
          </p:cNvPr>
          <p:cNvSpPr txBox="1"/>
          <p:nvPr/>
        </p:nvSpPr>
        <p:spPr>
          <a:xfrm>
            <a:off x="3032649" y="2177478"/>
            <a:ext cx="2190613" cy="427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、用户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优惠券的历史核销率</a:t>
            </a: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、用户平均核销间隔天数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用户此次之后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前领取的所有优惠券数目</a:t>
            </a: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用户此次之后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前领取的特定优惠券数目</a:t>
            </a: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、用户领取特定优惠券数</a:t>
            </a: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、用户核销特定优惠券数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62BF9CD-B6F3-E859-CD13-376C8FF38021}"/>
              </a:ext>
            </a:extLst>
          </p:cNvPr>
          <p:cNvSpPr txBox="1"/>
          <p:nvPr/>
        </p:nvSpPr>
        <p:spPr>
          <a:xfrm>
            <a:off x="5760256" y="2124840"/>
            <a:ext cx="3137905" cy="3957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、商家被领取优惠券数</a:t>
            </a:r>
          </a:p>
          <a:p>
            <a:pPr>
              <a:lnSpc>
                <a:spcPct val="150000"/>
              </a:lnSpc>
            </a:pP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、商家被不同客户领取次数</a:t>
            </a:r>
          </a:p>
          <a:p>
            <a:pPr>
              <a:lnSpc>
                <a:spcPct val="150000"/>
              </a:lnSpc>
            </a:pP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、商家的券被核销次数</a:t>
            </a:r>
          </a:p>
          <a:p>
            <a:pPr>
              <a:lnSpc>
                <a:spcPct val="150000"/>
              </a:lnSpc>
            </a:pP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、商家券核销率</a:t>
            </a:r>
          </a:p>
          <a:p>
            <a:pPr>
              <a:lnSpc>
                <a:spcPct val="150000"/>
              </a:lnSpc>
            </a:pP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、商家券未核销次数</a:t>
            </a:r>
          </a:p>
          <a:p>
            <a:pPr>
              <a:lnSpc>
                <a:spcPct val="150000"/>
              </a:lnSpc>
            </a:pP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、商家提供不同优惠券数</a:t>
            </a:r>
          </a:p>
          <a:p>
            <a:pPr>
              <a:lnSpc>
                <a:spcPct val="150000"/>
              </a:lnSpc>
            </a:pP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、商家优惠券历史核销率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50AF703-FC29-6D12-2559-8D742ABA362D}"/>
              </a:ext>
            </a:extLst>
          </p:cNvPr>
          <p:cNvSpPr txBox="1"/>
          <p:nvPr/>
        </p:nvSpPr>
        <p:spPr>
          <a:xfrm>
            <a:off x="8657293" y="2124840"/>
            <a:ext cx="3032650" cy="2757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、优惠券被领取次数</a:t>
            </a:r>
          </a:p>
          <a:p>
            <a:pPr>
              <a:lnSpc>
                <a:spcPct val="150000"/>
              </a:lnSpc>
            </a:pP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、优惠券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天内被核销次数</a:t>
            </a:r>
          </a:p>
          <a:p>
            <a:pPr>
              <a:lnSpc>
                <a:spcPct val="150000"/>
              </a:lnSpc>
            </a:pP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、核销率</a:t>
            </a:r>
          </a:p>
          <a:p>
            <a:pPr>
              <a:lnSpc>
                <a:spcPct val="150000"/>
              </a:lnSpc>
            </a:pP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、核销平均时间间隔</a:t>
            </a:r>
          </a:p>
          <a:p>
            <a:pPr>
              <a:lnSpc>
                <a:spcPct val="150000"/>
              </a:lnSpc>
            </a:pP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、满减券最低消费中位数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4E5CCC5-D606-1EC4-DE80-9D5C6D56D9C5}"/>
              </a:ext>
            </a:extLst>
          </p:cNvPr>
          <p:cNvSpPr txBox="1"/>
          <p:nvPr/>
        </p:nvSpPr>
        <p:spPr>
          <a:xfrm>
            <a:off x="2223504" y="1696762"/>
            <a:ext cx="205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用户特征（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个）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BD96E75-7860-EF3C-4B35-6E0E728E60B5}"/>
              </a:ext>
            </a:extLst>
          </p:cNvPr>
          <p:cNvSpPr txBox="1"/>
          <p:nvPr/>
        </p:nvSpPr>
        <p:spPr>
          <a:xfrm>
            <a:off x="5999912" y="1696762"/>
            <a:ext cx="1815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商家特征（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个）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7F8F4D9-66C7-75FD-82FC-F4A9DA5CCD3C}"/>
              </a:ext>
            </a:extLst>
          </p:cNvPr>
          <p:cNvSpPr txBox="1"/>
          <p:nvPr/>
        </p:nvSpPr>
        <p:spPr>
          <a:xfrm>
            <a:off x="8950276" y="1696762"/>
            <a:ext cx="2002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优惠券特征（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个）</a:t>
            </a: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28BC1F87-8381-FE8A-D2C1-82B1DAA7D6CB}"/>
              </a:ext>
            </a:extLst>
          </p:cNvPr>
          <p:cNvCxnSpPr>
            <a:cxnSpLocks/>
          </p:cNvCxnSpPr>
          <p:nvPr/>
        </p:nvCxnSpPr>
        <p:spPr>
          <a:xfrm>
            <a:off x="8322733" y="1774281"/>
            <a:ext cx="0" cy="4866603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A7B1940B-A94E-24B7-39DD-2FF08CE3937A}"/>
              </a:ext>
            </a:extLst>
          </p:cNvPr>
          <p:cNvCxnSpPr>
            <a:cxnSpLocks/>
          </p:cNvCxnSpPr>
          <p:nvPr/>
        </p:nvCxnSpPr>
        <p:spPr>
          <a:xfrm>
            <a:off x="5492734" y="1734753"/>
            <a:ext cx="0" cy="4866603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906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C31F5-0F40-12E1-F1C9-F861E5022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09B2748-4212-3415-D0A5-A0287C25746F}"/>
              </a:ext>
            </a:extLst>
          </p:cNvPr>
          <p:cNvSpPr/>
          <p:nvPr/>
        </p:nvSpPr>
        <p:spPr>
          <a:xfrm>
            <a:off x="0" y="-1511"/>
            <a:ext cx="2419797" cy="648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0E459F-2E03-DCF0-743C-A5343D332EAC}"/>
              </a:ext>
            </a:extLst>
          </p:cNvPr>
          <p:cNvSpPr/>
          <p:nvPr/>
        </p:nvSpPr>
        <p:spPr>
          <a:xfrm>
            <a:off x="186176" y="-1270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赛题解读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585614-D712-A576-8D1F-04177E65A8F2}"/>
              </a:ext>
            </a:extLst>
          </p:cNvPr>
          <p:cNvSpPr/>
          <p:nvPr/>
        </p:nvSpPr>
        <p:spPr>
          <a:xfrm>
            <a:off x="516553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数据划分与打标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05EE66-798A-E54E-4115-9B990AB09DE2}"/>
              </a:ext>
            </a:extLst>
          </p:cNvPr>
          <p:cNvSpPr/>
          <p:nvPr/>
        </p:nvSpPr>
        <p:spPr>
          <a:xfrm>
            <a:off x="7443803" y="1652"/>
            <a:ext cx="2232000" cy="64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1A1D0CA-93AD-D904-0693-E115886DE87D}"/>
              </a:ext>
            </a:extLst>
          </p:cNvPr>
          <p:cNvSpPr/>
          <p:nvPr/>
        </p:nvSpPr>
        <p:spPr>
          <a:xfrm>
            <a:off x="2596218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数据分析与预处理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B42141F-1008-42D2-20A2-0CEAF4A39312}"/>
              </a:ext>
            </a:extLst>
          </p:cNvPr>
          <p:cNvSpPr/>
          <p:nvPr/>
        </p:nvSpPr>
        <p:spPr>
          <a:xfrm>
            <a:off x="982634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模型优化与融合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729CE5F6-2C15-4FA4-1525-3C8E85B452F0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045595D3-B664-BA7C-948D-F4FFD0832680}"/>
              </a:ext>
            </a:extLst>
          </p:cNvPr>
          <p:cNvCxnSpPr/>
          <p:nvPr/>
        </p:nvCxnSpPr>
        <p:spPr>
          <a:xfrm>
            <a:off x="2314771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C7F528B-E0A2-DCB4-5B48-7E893C984D5C}"/>
              </a:ext>
            </a:extLst>
          </p:cNvPr>
          <p:cNvCxnSpPr/>
          <p:nvPr/>
        </p:nvCxnSpPr>
        <p:spPr>
          <a:xfrm>
            <a:off x="516222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BB26681A-782B-B4D7-A947-FEB9FB310101}"/>
              </a:ext>
            </a:extLst>
          </p:cNvPr>
          <p:cNvSpPr txBox="1"/>
          <p:nvPr/>
        </p:nvSpPr>
        <p:spPr>
          <a:xfrm>
            <a:off x="692072" y="859078"/>
            <a:ext cx="4084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特征工程（标签区间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数据泄露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073995C-5DCC-7215-FEAB-E4E912134525}"/>
              </a:ext>
            </a:extLst>
          </p:cNvPr>
          <p:cNvCxnSpPr/>
          <p:nvPr/>
        </p:nvCxnSpPr>
        <p:spPr>
          <a:xfrm>
            <a:off x="548907" y="85907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0AB2B008-6140-CF8E-4ED8-9E9E524B533F}"/>
              </a:ext>
            </a:extLst>
          </p:cNvPr>
          <p:cNvSpPr txBox="1"/>
          <p:nvPr/>
        </p:nvSpPr>
        <p:spPr>
          <a:xfrm>
            <a:off x="692072" y="1202236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特征工程决定上限，模型只是逼近这个上限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637BD3A-229E-CBEB-727E-B79989E58F47}"/>
              </a:ext>
            </a:extLst>
          </p:cNvPr>
          <p:cNvSpPr txBox="1"/>
          <p:nvPr/>
        </p:nvSpPr>
        <p:spPr>
          <a:xfrm>
            <a:off x="1618006" y="1598308"/>
            <a:ext cx="2103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用户特征（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0CEC96E-5816-7A0B-FF6D-47FD1E1667E2}"/>
              </a:ext>
            </a:extLst>
          </p:cNvPr>
          <p:cNvSpPr txBox="1"/>
          <p:nvPr/>
        </p:nvSpPr>
        <p:spPr>
          <a:xfrm>
            <a:off x="5744576" y="1598304"/>
            <a:ext cx="1815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商家特征（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81A75D3-F6AB-280C-A91F-853FB68368C1}"/>
              </a:ext>
            </a:extLst>
          </p:cNvPr>
          <p:cNvSpPr txBox="1"/>
          <p:nvPr/>
        </p:nvSpPr>
        <p:spPr>
          <a:xfrm>
            <a:off x="9203575" y="1598304"/>
            <a:ext cx="1815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其他特征（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个）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0E3B944-E0EC-64CD-CAB9-23ADE99143C5}"/>
              </a:ext>
            </a:extLst>
          </p:cNvPr>
          <p:cNvCxnSpPr>
            <a:cxnSpLocks/>
          </p:cNvCxnSpPr>
          <p:nvPr/>
        </p:nvCxnSpPr>
        <p:spPr>
          <a:xfrm>
            <a:off x="8450817" y="1881427"/>
            <a:ext cx="0" cy="4866603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9485564-3356-EA50-95D1-9CA011F280EC}"/>
              </a:ext>
            </a:extLst>
          </p:cNvPr>
          <p:cNvCxnSpPr>
            <a:cxnSpLocks/>
          </p:cNvCxnSpPr>
          <p:nvPr/>
        </p:nvCxnSpPr>
        <p:spPr>
          <a:xfrm>
            <a:off x="4512219" y="1881428"/>
            <a:ext cx="0" cy="4866603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CDDDE55-B8D9-9558-0E92-C5D3A780C053}"/>
              </a:ext>
            </a:extLst>
          </p:cNvPr>
          <p:cNvSpPr txBox="1"/>
          <p:nvPr/>
        </p:nvSpPr>
        <p:spPr>
          <a:xfrm>
            <a:off x="570266" y="2124840"/>
            <a:ext cx="3958374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1、用户领券数</a:t>
            </a:r>
          </a:p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2、用户领取特定优惠券数</a:t>
            </a:r>
          </a:p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3、用户领取特定商家优惠券数目</a:t>
            </a:r>
          </a:p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4、用户当天领取优惠券数目</a:t>
            </a:r>
          </a:p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5、用户当天领取特定优惠券数目</a:t>
            </a:r>
          </a:p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6、用户领取所有优惠券种类数目</a:t>
            </a:r>
          </a:p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7、</a:t>
            </a:r>
          </a:p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用户此次之后/前领取的所有优惠券数目</a:t>
            </a: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用户此次之后/前领取的特定优惠券数目</a:t>
            </a:r>
          </a:p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11、用户最近一次领券距今多少天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B8EE962-674C-B706-024C-E32B92530927}"/>
              </a:ext>
            </a:extLst>
          </p:cNvPr>
          <p:cNvSpPr txBox="1"/>
          <p:nvPr/>
        </p:nvSpPr>
        <p:spPr>
          <a:xfrm>
            <a:off x="4612518" y="2120949"/>
            <a:ext cx="3928533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1、商家被领取优惠券数目</a:t>
            </a:r>
          </a:p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2、商家被领取的特定优惠券数目</a:t>
            </a:r>
          </a:p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3、商家被多少不同用户领取</a:t>
            </a:r>
          </a:p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4、商家发行不同种类的优惠券</a:t>
            </a:r>
          </a:p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5、商家忠诚度（被同一用户领取的次数/被领取总次数）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0CB9A5-3D95-C083-7EF4-9A667E3800E7}"/>
              </a:ext>
            </a:extLst>
          </p:cNvPr>
          <p:cNvSpPr txBox="1"/>
          <p:nvPr/>
        </p:nvSpPr>
        <p:spPr>
          <a:xfrm>
            <a:off x="8454173" y="2120949"/>
            <a:ext cx="391356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1、当天是星期几</a:t>
            </a:r>
          </a:p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2、当天是否是周末</a:t>
            </a:r>
          </a:p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3、星期的one-hot编码</a:t>
            </a:r>
          </a:p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4、当前距离和历史平均核销距离的差异</a:t>
            </a:r>
          </a:p>
        </p:txBody>
      </p:sp>
    </p:spTree>
    <p:extLst>
      <p:ext uri="{BB962C8B-B14F-4D97-AF65-F5344CB8AC3E}">
        <p14:creationId xmlns:p14="http://schemas.microsoft.com/office/powerpoint/2010/main" val="3468853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4DB0A-C6E5-C8CB-EA1A-8A01BFA5D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0A66B32-6739-48DF-538A-2D38E8C7F843}"/>
              </a:ext>
            </a:extLst>
          </p:cNvPr>
          <p:cNvSpPr/>
          <p:nvPr/>
        </p:nvSpPr>
        <p:spPr>
          <a:xfrm>
            <a:off x="0" y="-1511"/>
            <a:ext cx="2419797" cy="648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29B294-01D1-698E-3C0E-DA2D655D3D0B}"/>
              </a:ext>
            </a:extLst>
          </p:cNvPr>
          <p:cNvSpPr/>
          <p:nvPr/>
        </p:nvSpPr>
        <p:spPr>
          <a:xfrm>
            <a:off x="186176" y="-1270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赛题解读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8FB076-CC5E-BB23-18AB-BFC16DDBB8C8}"/>
              </a:ext>
            </a:extLst>
          </p:cNvPr>
          <p:cNvSpPr/>
          <p:nvPr/>
        </p:nvSpPr>
        <p:spPr>
          <a:xfrm>
            <a:off x="516553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数据划分与打标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167414-312A-C6CF-61B9-F8C7025F940B}"/>
              </a:ext>
            </a:extLst>
          </p:cNvPr>
          <p:cNvSpPr/>
          <p:nvPr/>
        </p:nvSpPr>
        <p:spPr>
          <a:xfrm>
            <a:off x="7443803" y="1652"/>
            <a:ext cx="2232000" cy="64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6DA5126-3A7D-0B90-F9BF-0137BC5061A5}"/>
              </a:ext>
            </a:extLst>
          </p:cNvPr>
          <p:cNvSpPr/>
          <p:nvPr/>
        </p:nvSpPr>
        <p:spPr>
          <a:xfrm>
            <a:off x="2596218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数据分析与预处理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2794E26-412C-C120-699F-AAD10F3F647C}"/>
              </a:ext>
            </a:extLst>
          </p:cNvPr>
          <p:cNvSpPr/>
          <p:nvPr/>
        </p:nvSpPr>
        <p:spPr>
          <a:xfrm>
            <a:off x="982634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模型优化与融合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58C59829-B068-CCFE-07EF-AAF4BB53A0AB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A3D38CB-3374-292A-3AFC-BBF22066ECB0}"/>
              </a:ext>
            </a:extLst>
          </p:cNvPr>
          <p:cNvCxnSpPr/>
          <p:nvPr/>
        </p:nvCxnSpPr>
        <p:spPr>
          <a:xfrm>
            <a:off x="2314771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91D9FDE-DE74-1E5C-3E6F-A9231AA74A06}"/>
              </a:ext>
            </a:extLst>
          </p:cNvPr>
          <p:cNvCxnSpPr/>
          <p:nvPr/>
        </p:nvCxnSpPr>
        <p:spPr>
          <a:xfrm>
            <a:off x="516222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B1078C7F-CF14-2B8F-3D97-F4851E823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244" y="883328"/>
            <a:ext cx="7386877" cy="590950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7C98572-BB02-E3BE-B2CF-239B0AD73A33}"/>
              </a:ext>
            </a:extLst>
          </p:cNvPr>
          <p:cNvSpPr txBox="1"/>
          <p:nvPr/>
        </p:nvSpPr>
        <p:spPr>
          <a:xfrm>
            <a:off x="367463" y="1635954"/>
            <a:ext cx="280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特征维数：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FB637CB-4D5F-EC8C-B219-98963ADB9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63" y="2008208"/>
            <a:ext cx="3134162" cy="27626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E5BD5005-A8F0-95D9-4F62-9A23113B9F47}"/>
              </a:ext>
            </a:extLst>
          </p:cNvPr>
          <p:cNvSpPr txBox="1"/>
          <p:nvPr/>
        </p:nvSpPr>
        <p:spPr>
          <a:xfrm>
            <a:off x="367462" y="3084094"/>
            <a:ext cx="3272589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最有效特征：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商家被领取的特定优惠券数目。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95E3CBD-51E2-9C55-1975-F2B67966DB31}"/>
              </a:ext>
            </a:extLst>
          </p:cNvPr>
          <p:cNvSpPr txBox="1"/>
          <p:nvPr/>
        </p:nvSpPr>
        <p:spPr>
          <a:xfrm>
            <a:off x="354431" y="4834979"/>
            <a:ext cx="280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单模型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Xgboost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得分：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F6DE2FF-A971-ED0B-22E6-722A8ED4D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57" y="5250326"/>
            <a:ext cx="3228975" cy="1095375"/>
          </a:xfrm>
          <a:prstGeom prst="rect">
            <a:avLst/>
          </a:prstGeom>
        </p:spPr>
      </p:pic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B12978C-70C2-7C67-6C32-C2DC19F117B1}"/>
              </a:ext>
            </a:extLst>
          </p:cNvPr>
          <p:cNvSpPr/>
          <p:nvPr/>
        </p:nvSpPr>
        <p:spPr>
          <a:xfrm>
            <a:off x="320055" y="1571723"/>
            <a:ext cx="3319995" cy="810033"/>
          </a:xfrm>
          <a:prstGeom prst="roundRect">
            <a:avLst>
              <a:gd name="adj" fmla="val 3496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623F642-8AB8-6593-C86B-1F2AD7D27679}"/>
              </a:ext>
            </a:extLst>
          </p:cNvPr>
          <p:cNvSpPr/>
          <p:nvPr/>
        </p:nvSpPr>
        <p:spPr>
          <a:xfrm>
            <a:off x="320055" y="3147811"/>
            <a:ext cx="3319995" cy="874406"/>
          </a:xfrm>
          <a:prstGeom prst="roundRect">
            <a:avLst>
              <a:gd name="adj" fmla="val 3496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11BE54E-1167-1B24-288F-191C5096C657}"/>
              </a:ext>
            </a:extLst>
          </p:cNvPr>
          <p:cNvSpPr/>
          <p:nvPr/>
        </p:nvSpPr>
        <p:spPr>
          <a:xfrm>
            <a:off x="320055" y="4744294"/>
            <a:ext cx="3319995" cy="1601407"/>
          </a:xfrm>
          <a:prstGeom prst="roundRect">
            <a:avLst>
              <a:gd name="adj" fmla="val 3496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821788-F2CE-57D9-BAB4-5679E4643A89}"/>
              </a:ext>
            </a:extLst>
          </p:cNvPr>
          <p:cNvSpPr/>
          <p:nvPr/>
        </p:nvSpPr>
        <p:spPr>
          <a:xfrm>
            <a:off x="5661965" y="2284472"/>
            <a:ext cx="1236269" cy="2319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6EF3D1-BE3C-E81C-49D0-4BD690667D56}"/>
              </a:ext>
            </a:extLst>
          </p:cNvPr>
          <p:cNvSpPr/>
          <p:nvPr/>
        </p:nvSpPr>
        <p:spPr>
          <a:xfrm>
            <a:off x="5162224" y="4306695"/>
            <a:ext cx="1736010" cy="1891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B361B4-AECA-EE4A-1D7D-F2D13CAB5F5E}"/>
              </a:ext>
            </a:extLst>
          </p:cNvPr>
          <p:cNvSpPr/>
          <p:nvPr/>
        </p:nvSpPr>
        <p:spPr>
          <a:xfrm>
            <a:off x="5477932" y="6022406"/>
            <a:ext cx="1395943" cy="1891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73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3" grpId="0" animBg="1"/>
      <p:bldP spid="24" grpId="0" animBg="1"/>
      <p:bldP spid="5" grpId="0" animBg="1"/>
      <p:bldP spid="6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4A58-21A4-9270-2788-04BE0B90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C823DB9-4333-2856-F8BB-CD026C6377F3}"/>
              </a:ext>
            </a:extLst>
          </p:cNvPr>
          <p:cNvSpPr txBox="1"/>
          <p:nvPr/>
        </p:nvSpPr>
        <p:spPr>
          <a:xfrm>
            <a:off x="884712" y="3274178"/>
            <a:ext cx="50321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模型优化与融合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AE528B-BB32-CA25-B6BF-C2B82258E92E}"/>
              </a:ext>
            </a:extLst>
          </p:cNvPr>
          <p:cNvSpPr txBox="1"/>
          <p:nvPr/>
        </p:nvSpPr>
        <p:spPr>
          <a:xfrm>
            <a:off x="955244" y="1807200"/>
            <a:ext cx="17043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600" b="1" dirty="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9600" b="1" dirty="0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BBEEC51-2A1D-4F14-C0DC-19931AAE28F6}"/>
              </a:ext>
            </a:extLst>
          </p:cNvPr>
          <p:cNvSpPr/>
          <p:nvPr/>
        </p:nvSpPr>
        <p:spPr>
          <a:xfrm rot="5400000" flipH="1">
            <a:off x="6613693" y="1254294"/>
            <a:ext cx="6858002" cy="4349415"/>
          </a:xfrm>
          <a:custGeom>
            <a:avLst/>
            <a:gdLst>
              <a:gd name="connsiteX0" fmla="*/ 6858002 w 6858002"/>
              <a:gd name="connsiteY0" fmla="*/ 3312906 h 4349415"/>
              <a:gd name="connsiteX1" fmla="*/ 6858002 w 6858002"/>
              <a:gd name="connsiteY1" fmla="*/ 1637677 h 4349415"/>
              <a:gd name="connsiteX2" fmla="*/ 6858000 w 6858002"/>
              <a:gd name="connsiteY2" fmla="*/ 1637677 h 4349415"/>
              <a:gd name="connsiteX3" fmla="*/ 6858000 w 6858002"/>
              <a:gd name="connsiteY3" fmla="*/ 0 h 4349415"/>
              <a:gd name="connsiteX4" fmla="*/ 0 w 6858002"/>
              <a:gd name="connsiteY4" fmla="*/ 0 h 4349415"/>
              <a:gd name="connsiteX5" fmla="*/ 0 w 6858002"/>
              <a:gd name="connsiteY5" fmla="*/ 2472268 h 4349415"/>
              <a:gd name="connsiteX6" fmla="*/ 2 w 6858002"/>
              <a:gd name="connsiteY6" fmla="*/ 2472268 h 4349415"/>
              <a:gd name="connsiteX7" fmla="*/ 2 w 6858002"/>
              <a:gd name="connsiteY7" fmla="*/ 3313334 h 4349415"/>
              <a:gd name="connsiteX8" fmla="*/ 12723 w 6858002"/>
              <a:gd name="connsiteY8" fmla="*/ 3323302 h 4349415"/>
              <a:gd name="connsiteX9" fmla="*/ 3428728 w 6858002"/>
              <a:gd name="connsiteY9" fmla="*/ 4349415 h 4349415"/>
              <a:gd name="connsiteX10" fmla="*/ 6844733 w 6858002"/>
              <a:gd name="connsiteY10" fmla="*/ 3323302 h 434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2" h="4349415">
                <a:moveTo>
                  <a:pt x="6858002" y="3312906"/>
                </a:moveTo>
                <a:lnTo>
                  <a:pt x="6858002" y="1637677"/>
                </a:lnTo>
                <a:lnTo>
                  <a:pt x="6858000" y="1637677"/>
                </a:lnTo>
                <a:lnTo>
                  <a:pt x="6858000" y="0"/>
                </a:lnTo>
                <a:lnTo>
                  <a:pt x="0" y="0"/>
                </a:lnTo>
                <a:lnTo>
                  <a:pt x="0" y="2472268"/>
                </a:lnTo>
                <a:lnTo>
                  <a:pt x="2" y="2472268"/>
                </a:lnTo>
                <a:lnTo>
                  <a:pt x="2" y="3313334"/>
                </a:lnTo>
                <a:lnTo>
                  <a:pt x="12723" y="3323302"/>
                </a:lnTo>
                <a:cubicBezTo>
                  <a:pt x="856910" y="3953665"/>
                  <a:pt x="2074722" y="4349415"/>
                  <a:pt x="3428728" y="4349415"/>
                </a:cubicBezTo>
                <a:cubicBezTo>
                  <a:pt x="4782735" y="4349415"/>
                  <a:pt x="6000546" y="3953665"/>
                  <a:pt x="6844733" y="332330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E816C68A-EBE3-395B-B361-19ADD9B52BB4}"/>
              </a:ext>
            </a:extLst>
          </p:cNvPr>
          <p:cNvSpPr/>
          <p:nvPr/>
        </p:nvSpPr>
        <p:spPr>
          <a:xfrm>
            <a:off x="6984865" y="2565000"/>
            <a:ext cx="1728000" cy="17280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博士帽">
            <a:extLst>
              <a:ext uri="{FF2B5EF4-FFF2-40B4-BE49-F238E27FC236}">
                <a16:creationId xmlns:a16="http://schemas.microsoft.com/office/drawing/2014/main" id="{4FCD37FE-92BB-930E-D3C5-EEDD902E9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91400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97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E21E0-F56F-E636-5202-DB3A0BC1C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E1BA39B-5B01-7257-79C3-21ED4A9384F0}"/>
              </a:ext>
            </a:extLst>
          </p:cNvPr>
          <p:cNvSpPr/>
          <p:nvPr/>
        </p:nvSpPr>
        <p:spPr>
          <a:xfrm>
            <a:off x="0" y="-1511"/>
            <a:ext cx="2419797" cy="648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13E06D-3CEE-AEE3-464B-04CED3D76B3E}"/>
              </a:ext>
            </a:extLst>
          </p:cNvPr>
          <p:cNvSpPr/>
          <p:nvPr/>
        </p:nvSpPr>
        <p:spPr>
          <a:xfrm>
            <a:off x="186176" y="-1270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赛题解读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0605AF-5E22-3AB6-9E08-B080517CC335}"/>
              </a:ext>
            </a:extLst>
          </p:cNvPr>
          <p:cNvSpPr/>
          <p:nvPr/>
        </p:nvSpPr>
        <p:spPr>
          <a:xfrm>
            <a:off x="516553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数据划分与打标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661D57-3B0E-AAB3-A039-2DD84E8195D1}"/>
              </a:ext>
            </a:extLst>
          </p:cNvPr>
          <p:cNvSpPr/>
          <p:nvPr/>
        </p:nvSpPr>
        <p:spPr>
          <a:xfrm>
            <a:off x="7443803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8CA0EA-60A3-7C44-13A7-9151E958F811}"/>
              </a:ext>
            </a:extLst>
          </p:cNvPr>
          <p:cNvSpPr/>
          <p:nvPr/>
        </p:nvSpPr>
        <p:spPr>
          <a:xfrm>
            <a:off x="2596218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数据分析与预处理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88951B-9934-AD53-CB23-A3C2A9A3A721}"/>
              </a:ext>
            </a:extLst>
          </p:cNvPr>
          <p:cNvSpPr/>
          <p:nvPr/>
        </p:nvSpPr>
        <p:spPr>
          <a:xfrm>
            <a:off x="9826345" y="1652"/>
            <a:ext cx="2365655" cy="64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模型优化与融合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F1004C8-9601-C55D-ACC0-F1E89E1D91DC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E6E03EF-A016-0A88-F8AF-4C51E80EA135}"/>
              </a:ext>
            </a:extLst>
          </p:cNvPr>
          <p:cNvCxnSpPr/>
          <p:nvPr/>
        </p:nvCxnSpPr>
        <p:spPr>
          <a:xfrm>
            <a:off x="2314771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25B726D-8BB9-FD36-A95D-FF4D06B85ED2}"/>
              </a:ext>
            </a:extLst>
          </p:cNvPr>
          <p:cNvCxnSpPr/>
          <p:nvPr/>
        </p:nvCxnSpPr>
        <p:spPr>
          <a:xfrm>
            <a:off x="516222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1BC8F1C-ECAB-E91C-9B11-CF93B60B67FB}"/>
              </a:ext>
            </a:extLst>
          </p:cNvPr>
          <p:cNvCxnSpPr/>
          <p:nvPr/>
        </p:nvCxnSpPr>
        <p:spPr>
          <a:xfrm>
            <a:off x="7659061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86105A94-1485-329D-9079-398665D6D627}"/>
              </a:ext>
            </a:extLst>
          </p:cNvPr>
          <p:cNvSpPr txBox="1"/>
          <p:nvPr/>
        </p:nvSpPr>
        <p:spPr>
          <a:xfrm>
            <a:off x="692072" y="975145"/>
            <a:ext cx="2491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模型调参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CA8B6AF-3857-00F0-0BB5-3BE760316033}"/>
              </a:ext>
            </a:extLst>
          </p:cNvPr>
          <p:cNvCxnSpPr/>
          <p:nvPr/>
        </p:nvCxnSpPr>
        <p:spPr>
          <a:xfrm>
            <a:off x="548907" y="85907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ACADEFE9-E5E8-FFB7-A52D-9601137487AA}"/>
              </a:ext>
            </a:extLst>
          </p:cNvPr>
          <p:cNvSpPr txBox="1"/>
          <p:nvPr/>
        </p:nvSpPr>
        <p:spPr>
          <a:xfrm>
            <a:off x="692072" y="1394191"/>
            <a:ext cx="9838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分阶段网格搜索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的方法，逐步对树结构、正则化、采样、学习率等参数进行优化。</a:t>
            </a: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90B129DC-67CC-4818-D589-FD7136F2A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35" y="1817115"/>
            <a:ext cx="5049687" cy="4787620"/>
          </a:xfrm>
          <a:prstGeom prst="rect">
            <a:avLst/>
          </a:prstGeom>
        </p:spPr>
      </p:pic>
      <p:sp>
        <p:nvSpPr>
          <p:cNvPr id="57" name="www.koppt.cn">
            <a:extLst>
              <a:ext uri="{FF2B5EF4-FFF2-40B4-BE49-F238E27FC236}">
                <a16:creationId xmlns:a16="http://schemas.microsoft.com/office/drawing/2014/main" id="{2A1F376C-CAEC-2C8B-F7D3-4850650A97F2}"/>
              </a:ext>
            </a:extLst>
          </p:cNvPr>
          <p:cNvSpPr/>
          <p:nvPr/>
        </p:nvSpPr>
        <p:spPr bwMode="auto">
          <a:xfrm rot="10800000" flipH="1">
            <a:off x="5292423" y="3606800"/>
            <a:ext cx="467027" cy="1127766"/>
          </a:xfrm>
          <a:custGeom>
            <a:avLst/>
            <a:gdLst>
              <a:gd name="connsiteX0" fmla="*/ 0 w 2385058"/>
              <a:gd name="connsiteY0" fmla="*/ 3779520 h 3779520"/>
              <a:gd name="connsiteX1" fmla="*/ 1851658 w 2385058"/>
              <a:gd name="connsiteY1" fmla="*/ 2293620 h 3779520"/>
              <a:gd name="connsiteX2" fmla="*/ 1851658 w 2385058"/>
              <a:gd name="connsiteY2" fmla="*/ 2560320 h 3779520"/>
              <a:gd name="connsiteX3" fmla="*/ 2385058 w 2385058"/>
              <a:gd name="connsiteY3" fmla="*/ 1889760 h 3779520"/>
              <a:gd name="connsiteX4" fmla="*/ 1851658 w 2385058"/>
              <a:gd name="connsiteY4" fmla="*/ 1219200 h 3779520"/>
              <a:gd name="connsiteX5" fmla="*/ 1851658 w 2385058"/>
              <a:gd name="connsiteY5" fmla="*/ 1485900 h 3779520"/>
              <a:gd name="connsiteX6" fmla="*/ 0 w 2385058"/>
              <a:gd name="connsiteY6" fmla="*/ 0 h 3779520"/>
              <a:gd name="connsiteX7" fmla="*/ 0 w 2385058"/>
              <a:gd name="connsiteY7" fmla="*/ 1889760 h 377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5058" h="3779520">
                <a:moveTo>
                  <a:pt x="0" y="3779520"/>
                </a:moveTo>
                <a:cubicBezTo>
                  <a:pt x="495300" y="2994660"/>
                  <a:pt x="929640" y="2369820"/>
                  <a:pt x="1851658" y="2293620"/>
                </a:cubicBezTo>
                <a:lnTo>
                  <a:pt x="1851658" y="2560320"/>
                </a:lnTo>
                <a:lnTo>
                  <a:pt x="2385058" y="1889760"/>
                </a:lnTo>
                <a:lnTo>
                  <a:pt x="1851658" y="1219200"/>
                </a:lnTo>
                <a:lnTo>
                  <a:pt x="1851658" y="1485900"/>
                </a:lnTo>
                <a:cubicBezTo>
                  <a:pt x="929640" y="1409700"/>
                  <a:pt x="495300" y="784860"/>
                  <a:pt x="0" y="0"/>
                </a:cubicBezTo>
                <a:lnTo>
                  <a:pt x="0" y="1889760"/>
                </a:lnTo>
                <a:close/>
              </a:path>
            </a:pathLst>
          </a:custGeom>
          <a:gradFill flip="none" rotWithShape="1">
            <a:gsLst>
              <a:gs pos="27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  <a:tileRect/>
          </a:gradFill>
          <a:ln w="6350">
            <a:gradFill flip="none" rotWithShape="1">
              <a:gsLst>
                <a:gs pos="15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prstClr val="white"/>
                </a:solidFill>
                <a:cs typeface="+mn-ea"/>
                <a:sym typeface="+mn-lt"/>
              </a:rPr>
              <a:t> </a:t>
            </a:r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3B626EBD-0F35-4D0C-A9D1-0CE12D228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27810"/>
              </p:ext>
            </p:extLst>
          </p:nvPr>
        </p:nvGraphicFramePr>
        <p:xfrm>
          <a:off x="5813162" y="1770773"/>
          <a:ext cx="6160171" cy="4747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006">
                  <a:extLst>
                    <a:ext uri="{9D8B030D-6E8A-4147-A177-3AD203B41FA5}">
                      <a16:colId xmlns:a16="http://schemas.microsoft.com/office/drawing/2014/main" val="2350708545"/>
                    </a:ext>
                  </a:extLst>
                </a:gridCol>
                <a:gridCol w="1737206">
                  <a:extLst>
                    <a:ext uri="{9D8B030D-6E8A-4147-A177-3AD203B41FA5}">
                      <a16:colId xmlns:a16="http://schemas.microsoft.com/office/drawing/2014/main" val="500782057"/>
                    </a:ext>
                  </a:extLst>
                </a:gridCol>
                <a:gridCol w="1823006">
                  <a:extLst>
                    <a:ext uri="{9D8B030D-6E8A-4147-A177-3AD203B41FA5}">
                      <a16:colId xmlns:a16="http://schemas.microsoft.com/office/drawing/2014/main" val="1823862759"/>
                    </a:ext>
                  </a:extLst>
                </a:gridCol>
                <a:gridCol w="1208953">
                  <a:extLst>
                    <a:ext uri="{9D8B030D-6E8A-4147-A177-3AD203B41FA5}">
                      <a16:colId xmlns:a16="http://schemas.microsoft.com/office/drawing/2014/main" val="1415293250"/>
                    </a:ext>
                  </a:extLst>
                </a:gridCol>
              </a:tblGrid>
              <a:tr h="65931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参数阶段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参数范围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最佳值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039069"/>
                  </a:ext>
                </a:extLst>
              </a:tr>
              <a:tr h="90895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树结构参数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max_depth</a:t>
                      </a:r>
                      <a:endParaRPr lang="en-US" altLang="zh-CN" sz="1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min_child_weight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[4,5,6,7]</a:t>
                      </a:r>
                    </a:p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[1,3,5]</a:t>
                      </a:r>
                      <a:endParaRPr lang="zh-CN" altLang="en-US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7</a:t>
                      </a:r>
                    </a:p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3</a:t>
                      </a:r>
                      <a:endParaRPr lang="zh-CN" altLang="en-US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841815"/>
                  </a:ext>
                </a:extLst>
              </a:tr>
              <a:tr h="90895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正则化参数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 err="1">
                          <a:latin typeface="Times New Roman" panose="02020603050405020304" pitchFamily="18" charset="0"/>
                        </a:rPr>
                        <a:t>gama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aseline="0" dirty="0" err="1">
                          <a:latin typeface="Times New Roman" panose="02020603050405020304" pitchFamily="18" charset="0"/>
                        </a:rPr>
                        <a:t>lamda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alpha</a:t>
                      </a:r>
                      <a:endParaRPr lang="zh-CN" altLang="en-US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[0,0.1,0.2]</a:t>
                      </a:r>
                    </a:p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[1,1.5,2]</a:t>
                      </a:r>
                    </a:p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[0,0.1,0.5]</a:t>
                      </a:r>
                      <a:endParaRPr lang="zh-CN" altLang="en-US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0.1</a:t>
                      </a:r>
                    </a:p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813349"/>
                  </a:ext>
                </a:extLst>
              </a:tr>
              <a:tr h="11061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采样参数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subsample</a:t>
                      </a:r>
                    </a:p>
                    <a:p>
                      <a:pPr algn="ctr"/>
                      <a:r>
                        <a:rPr lang="en-US" altLang="zh-CN" sz="1600" baseline="0" dirty="0" err="1">
                          <a:latin typeface="Times New Roman" panose="02020603050405020304" pitchFamily="18" charset="0"/>
                        </a:rPr>
                        <a:t>colsample_bytree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600" baseline="0" dirty="0" err="1">
                          <a:latin typeface="Times New Roman" panose="02020603050405020304" pitchFamily="18" charset="0"/>
                        </a:rPr>
                        <a:t>colsample_bylevel</a:t>
                      </a:r>
                      <a:endParaRPr lang="zh-CN" altLang="en-US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[0.7,0.8,0.9]</a:t>
                      </a:r>
                    </a:p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[0.6,0.7,0.8]</a:t>
                      </a:r>
                    </a:p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[0.6,0.7,0.8]</a:t>
                      </a:r>
                      <a:endParaRPr lang="zh-CN" altLang="en-US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0.9</a:t>
                      </a:r>
                    </a:p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0.6</a:t>
                      </a:r>
                    </a:p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0.8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4910313"/>
                  </a:ext>
                </a:extLst>
              </a:tr>
              <a:tr h="11590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学习率和迭代次数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 err="1">
                          <a:latin typeface="Times New Roman" panose="02020603050405020304" pitchFamily="18" charset="0"/>
                        </a:rPr>
                        <a:t>learning_rate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aseline="0" dirty="0" err="1">
                          <a:latin typeface="Times New Roman" panose="02020603050405020304" pitchFamily="18" charset="0"/>
                        </a:rPr>
                        <a:t>n_estimators</a:t>
                      </a:r>
                      <a:endParaRPr lang="zh-CN" altLang="en-US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[0.005,0.01,0.02]</a:t>
                      </a:r>
                    </a:p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[2000,3000,4000]</a:t>
                      </a:r>
                      <a:endParaRPr lang="zh-CN" altLang="en-US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0.01</a:t>
                      </a:r>
                    </a:p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3000</a:t>
                      </a:r>
                      <a:endParaRPr lang="zh-CN" altLang="en-US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085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3199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C1B0D-333D-46B5-08A5-F611A3A9B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CCC230E-659A-B3DD-17F4-E4FACB1DBA91}"/>
              </a:ext>
            </a:extLst>
          </p:cNvPr>
          <p:cNvSpPr/>
          <p:nvPr/>
        </p:nvSpPr>
        <p:spPr>
          <a:xfrm>
            <a:off x="0" y="-1511"/>
            <a:ext cx="2419797" cy="648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579DE0-B911-69F7-6988-2EF031AE6ED8}"/>
              </a:ext>
            </a:extLst>
          </p:cNvPr>
          <p:cNvSpPr/>
          <p:nvPr/>
        </p:nvSpPr>
        <p:spPr>
          <a:xfrm>
            <a:off x="186176" y="-1270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赛题解读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1BBDFA2-F6B4-4518-C21E-D04467797766}"/>
              </a:ext>
            </a:extLst>
          </p:cNvPr>
          <p:cNvSpPr/>
          <p:nvPr/>
        </p:nvSpPr>
        <p:spPr>
          <a:xfrm>
            <a:off x="516553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数据划分与打标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33E5C59-9DF9-4701-59FC-E274D4035B6A}"/>
              </a:ext>
            </a:extLst>
          </p:cNvPr>
          <p:cNvSpPr/>
          <p:nvPr/>
        </p:nvSpPr>
        <p:spPr>
          <a:xfrm>
            <a:off x="7443803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45A4E5-D3CC-4E10-37A9-9CB2878D864A}"/>
              </a:ext>
            </a:extLst>
          </p:cNvPr>
          <p:cNvSpPr/>
          <p:nvPr/>
        </p:nvSpPr>
        <p:spPr>
          <a:xfrm>
            <a:off x="2596218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数据分析与预处理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EA7054-2950-9CE7-2E4C-587163E0D452}"/>
              </a:ext>
            </a:extLst>
          </p:cNvPr>
          <p:cNvSpPr/>
          <p:nvPr/>
        </p:nvSpPr>
        <p:spPr>
          <a:xfrm>
            <a:off x="9826345" y="1652"/>
            <a:ext cx="2365655" cy="64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模型优化与融合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33D76FD-1516-DF99-54C3-41A5911F3D03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5E04AFA-1189-2410-3DAF-9DAD918DA782}"/>
              </a:ext>
            </a:extLst>
          </p:cNvPr>
          <p:cNvCxnSpPr/>
          <p:nvPr/>
        </p:nvCxnSpPr>
        <p:spPr>
          <a:xfrm>
            <a:off x="2314771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0508386-F4CB-7807-A929-6777B0F3840C}"/>
              </a:ext>
            </a:extLst>
          </p:cNvPr>
          <p:cNvCxnSpPr/>
          <p:nvPr/>
        </p:nvCxnSpPr>
        <p:spPr>
          <a:xfrm>
            <a:off x="516222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535C3B7-9AD9-CC79-031C-EA02EB68F58B}"/>
              </a:ext>
            </a:extLst>
          </p:cNvPr>
          <p:cNvCxnSpPr/>
          <p:nvPr/>
        </p:nvCxnSpPr>
        <p:spPr>
          <a:xfrm>
            <a:off x="7659061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5DB66A8F-2801-C3DE-2125-37D66D62AC53}"/>
              </a:ext>
            </a:extLst>
          </p:cNvPr>
          <p:cNvSpPr txBox="1"/>
          <p:nvPr/>
        </p:nvSpPr>
        <p:spPr>
          <a:xfrm>
            <a:off x="692071" y="975145"/>
            <a:ext cx="20580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简单模型融合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AC1A4EA-2F4D-9185-F558-CB2F315FCA49}"/>
              </a:ext>
            </a:extLst>
          </p:cNvPr>
          <p:cNvCxnSpPr/>
          <p:nvPr/>
        </p:nvCxnSpPr>
        <p:spPr>
          <a:xfrm>
            <a:off x="548907" y="85907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54D112F6-B8E7-9B4D-2F77-6D00707410A1}"/>
              </a:ext>
            </a:extLst>
          </p:cNvPr>
          <p:cNvSpPr txBox="1"/>
          <p:nvPr/>
        </p:nvSpPr>
        <p:spPr>
          <a:xfrm>
            <a:off x="692071" y="1762603"/>
            <a:ext cx="307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、基于线性加权的模型融合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27B847-59DB-18E2-BED9-8646957DA742}"/>
              </a:ext>
            </a:extLst>
          </p:cNvPr>
          <p:cNvSpPr txBox="1"/>
          <p:nvPr/>
        </p:nvSpPr>
        <p:spPr>
          <a:xfrm>
            <a:off x="1039855" y="2253984"/>
            <a:ext cx="8786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将不同模型的预测结果进行线性加权求和得到最后的融合结果。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C2F9888-FDBB-6099-F003-2352C0386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510486"/>
              </p:ext>
            </p:extLst>
          </p:nvPr>
        </p:nvGraphicFramePr>
        <p:xfrm>
          <a:off x="1172586" y="2853203"/>
          <a:ext cx="228437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2185">
                  <a:extLst>
                    <a:ext uri="{9D8B030D-6E8A-4147-A177-3AD203B41FA5}">
                      <a16:colId xmlns:a16="http://schemas.microsoft.com/office/drawing/2014/main" val="1987385746"/>
                    </a:ext>
                  </a:extLst>
                </a:gridCol>
                <a:gridCol w="1142185">
                  <a:extLst>
                    <a:ext uri="{9D8B030D-6E8A-4147-A177-3AD203B41FA5}">
                      <a16:colId xmlns:a16="http://schemas.microsoft.com/office/drawing/2014/main" val="3167236495"/>
                    </a:ext>
                  </a:extLst>
                </a:gridCol>
              </a:tblGrid>
              <a:tr h="339315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Result1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0.8023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81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Result2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0.8011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43495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C8ED050-8194-7410-789B-BE687CCE7DBE}"/>
              </a:ext>
            </a:extLst>
          </p:cNvPr>
          <p:cNvSpPr txBox="1"/>
          <p:nvPr/>
        </p:nvSpPr>
        <p:spPr>
          <a:xfrm>
            <a:off x="3665927" y="2984041"/>
            <a:ext cx="4336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Result = 0.5 * Result1 + 0.5 * Result2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CA1F8AB-B447-26C4-B124-3482AF15C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561" y="2783521"/>
            <a:ext cx="2284370" cy="7798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9BFD1A6-0DD4-6494-75B7-9C6A64AEF6E8}"/>
              </a:ext>
            </a:extLst>
          </p:cNvPr>
          <p:cNvSpPr txBox="1"/>
          <p:nvPr/>
        </p:nvSpPr>
        <p:spPr>
          <a:xfrm>
            <a:off x="692070" y="4030941"/>
            <a:ext cx="2755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、基于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Rank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的模型融合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81EB8AA-D571-7164-6CCD-1A58AB4174B6}"/>
              </a:ext>
            </a:extLst>
          </p:cNvPr>
          <p:cNvSpPr txBox="1"/>
          <p:nvPr/>
        </p:nvSpPr>
        <p:spPr>
          <a:xfrm>
            <a:off x="1039855" y="4434319"/>
            <a:ext cx="8786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将不同模型的预测结果做降序排名赋予权重得到加权平均排名，最后将排名通过归一化映射为概率作为最终结果。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1810C800-1BA8-3F61-DFEE-29F8EBBA2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381702"/>
              </p:ext>
            </p:extLst>
          </p:nvPr>
        </p:nvGraphicFramePr>
        <p:xfrm>
          <a:off x="1088127" y="5217447"/>
          <a:ext cx="228437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2185">
                  <a:extLst>
                    <a:ext uri="{9D8B030D-6E8A-4147-A177-3AD203B41FA5}">
                      <a16:colId xmlns:a16="http://schemas.microsoft.com/office/drawing/2014/main" val="1987385746"/>
                    </a:ext>
                  </a:extLst>
                </a:gridCol>
                <a:gridCol w="1142185">
                  <a:extLst>
                    <a:ext uri="{9D8B030D-6E8A-4147-A177-3AD203B41FA5}">
                      <a16:colId xmlns:a16="http://schemas.microsoft.com/office/drawing/2014/main" val="3167236495"/>
                    </a:ext>
                  </a:extLst>
                </a:gridCol>
              </a:tblGrid>
              <a:tr h="339315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Result1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0.8049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81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Result2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0.8023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43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Result3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0.8011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741636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E2EE0297-4458-7BCC-F2C6-ED8F2B655876}"/>
              </a:ext>
            </a:extLst>
          </p:cNvPr>
          <p:cNvSpPr txBox="1"/>
          <p:nvPr/>
        </p:nvSpPr>
        <p:spPr>
          <a:xfrm>
            <a:off x="3458281" y="5366665"/>
            <a:ext cx="6043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Avg_rank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0.4*rank(Result1) + 0.3*rank(Result2) + 0.3*rank(Result3)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CEACC4-D28B-C876-87FB-C2386C6CC377}"/>
              </a:ext>
            </a:extLst>
          </p:cNvPr>
          <p:cNvSpPr txBox="1"/>
          <p:nvPr/>
        </p:nvSpPr>
        <p:spPr>
          <a:xfrm>
            <a:off x="3456956" y="5811239"/>
            <a:ext cx="6043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Result = 1 -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Avg_rank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- 1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Avg_rank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1BC282D6-2D07-A5E3-51EC-E524E34A3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3561" y="5743667"/>
            <a:ext cx="2288364" cy="781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5384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5" grpId="0"/>
      <p:bldP spid="20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BEF8E-2EAA-75E1-EF46-7181E82A4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7A3A9223-9486-C588-569C-5218AA7F7154}"/>
              </a:ext>
            </a:extLst>
          </p:cNvPr>
          <p:cNvSpPr/>
          <p:nvPr/>
        </p:nvSpPr>
        <p:spPr>
          <a:xfrm>
            <a:off x="8035910" y="1905782"/>
            <a:ext cx="3900929" cy="3319360"/>
          </a:xfrm>
          <a:prstGeom prst="roundRect">
            <a:avLst>
              <a:gd name="adj" fmla="val 7542"/>
            </a:avLst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E17496-9792-633E-2840-DA184AF44CAE}"/>
              </a:ext>
            </a:extLst>
          </p:cNvPr>
          <p:cNvSpPr/>
          <p:nvPr/>
        </p:nvSpPr>
        <p:spPr>
          <a:xfrm>
            <a:off x="0" y="-1511"/>
            <a:ext cx="2419797" cy="648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2A0E31-557A-A5E8-9E9E-B952C88B6142}"/>
              </a:ext>
            </a:extLst>
          </p:cNvPr>
          <p:cNvSpPr/>
          <p:nvPr/>
        </p:nvSpPr>
        <p:spPr>
          <a:xfrm>
            <a:off x="186176" y="-1270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赛题解读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9D2984-5CAD-3076-7BC5-69BDA01C7113}"/>
              </a:ext>
            </a:extLst>
          </p:cNvPr>
          <p:cNvSpPr/>
          <p:nvPr/>
        </p:nvSpPr>
        <p:spPr>
          <a:xfrm>
            <a:off x="5165536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数据划分与打标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36828B-E947-23F0-4561-0E6EDBEEF7A4}"/>
              </a:ext>
            </a:extLst>
          </p:cNvPr>
          <p:cNvSpPr/>
          <p:nvPr/>
        </p:nvSpPr>
        <p:spPr>
          <a:xfrm>
            <a:off x="7443803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特征工程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9D2CEA-1533-E1B2-C21F-1C8061ECFE26}"/>
              </a:ext>
            </a:extLst>
          </p:cNvPr>
          <p:cNvSpPr/>
          <p:nvPr/>
        </p:nvSpPr>
        <p:spPr>
          <a:xfrm>
            <a:off x="2596218" y="1652"/>
            <a:ext cx="2232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数据分析与预处理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2518FAF-3E40-4F49-49B3-582DA146A9AB}"/>
              </a:ext>
            </a:extLst>
          </p:cNvPr>
          <p:cNvSpPr/>
          <p:nvPr/>
        </p:nvSpPr>
        <p:spPr>
          <a:xfrm>
            <a:off x="9826345" y="1652"/>
            <a:ext cx="2365655" cy="64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模型优化与融合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A756B41-0E32-3F4D-95BA-C24FA56385AC}"/>
              </a:ext>
            </a:extLst>
          </p:cNvPr>
          <p:cNvCxnSpPr/>
          <p:nvPr/>
        </p:nvCxnSpPr>
        <p:spPr>
          <a:xfrm>
            <a:off x="0" y="646489"/>
            <a:ext cx="12192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BE5D969-E804-56BF-B1BC-891433174A38}"/>
              </a:ext>
            </a:extLst>
          </p:cNvPr>
          <p:cNvCxnSpPr/>
          <p:nvPr/>
        </p:nvCxnSpPr>
        <p:spPr>
          <a:xfrm>
            <a:off x="2314771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714810F-4983-5F39-7BDA-693C6F962180}"/>
              </a:ext>
            </a:extLst>
          </p:cNvPr>
          <p:cNvCxnSpPr/>
          <p:nvPr/>
        </p:nvCxnSpPr>
        <p:spPr>
          <a:xfrm>
            <a:off x="5162223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4BC5DB2-C31F-CE31-A79B-8D8B625262CF}"/>
              </a:ext>
            </a:extLst>
          </p:cNvPr>
          <p:cNvCxnSpPr/>
          <p:nvPr/>
        </p:nvCxnSpPr>
        <p:spPr>
          <a:xfrm>
            <a:off x="7659061" y="124460"/>
            <a:ext cx="0" cy="396240"/>
          </a:xfrm>
          <a:prstGeom prst="line">
            <a:avLst/>
          </a:prstGeom>
          <a:ln w="12700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64A58196-3423-9434-F5E7-D0AA2D464F91}"/>
              </a:ext>
            </a:extLst>
          </p:cNvPr>
          <p:cNvSpPr txBox="1"/>
          <p:nvPr/>
        </p:nvSpPr>
        <p:spPr>
          <a:xfrm>
            <a:off x="692072" y="975145"/>
            <a:ext cx="2491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Stacking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融合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4EB41CC-D362-D8A1-E71E-54DC61FD6AB2}"/>
              </a:ext>
            </a:extLst>
          </p:cNvPr>
          <p:cNvCxnSpPr/>
          <p:nvPr/>
        </p:nvCxnSpPr>
        <p:spPr>
          <a:xfrm>
            <a:off x="548907" y="85907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40F607B-1B6F-BE7D-D9BF-B37327D47A77}"/>
              </a:ext>
            </a:extLst>
          </p:cNvPr>
          <p:cNvGrpSpPr/>
          <p:nvPr/>
        </p:nvGrpSpPr>
        <p:grpSpPr>
          <a:xfrm>
            <a:off x="587578" y="2306065"/>
            <a:ext cx="1127531" cy="2000550"/>
            <a:chOff x="983151" y="1993805"/>
            <a:chExt cx="1127531" cy="200055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2FB3961-B586-BBA0-5141-483D529D949E}"/>
                </a:ext>
              </a:extLst>
            </p:cNvPr>
            <p:cNvSpPr/>
            <p:nvPr/>
          </p:nvSpPr>
          <p:spPr>
            <a:xfrm>
              <a:off x="983151" y="1993805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347054A-8A27-EB2E-5822-05083D9F72BD}"/>
                </a:ext>
              </a:extLst>
            </p:cNvPr>
            <p:cNvSpPr/>
            <p:nvPr/>
          </p:nvSpPr>
          <p:spPr>
            <a:xfrm>
              <a:off x="983151" y="2393915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4B78584-20CC-16B2-927C-748799FE9CEA}"/>
                </a:ext>
              </a:extLst>
            </p:cNvPr>
            <p:cNvSpPr/>
            <p:nvPr/>
          </p:nvSpPr>
          <p:spPr>
            <a:xfrm>
              <a:off x="983151" y="2794025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345DE8F-D898-224E-FA3E-8F28AE65BFB0}"/>
                </a:ext>
              </a:extLst>
            </p:cNvPr>
            <p:cNvSpPr/>
            <p:nvPr/>
          </p:nvSpPr>
          <p:spPr>
            <a:xfrm>
              <a:off x="983151" y="3194135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EC132A9-7D49-42F5-49EE-64A769B43364}"/>
                </a:ext>
              </a:extLst>
            </p:cNvPr>
            <p:cNvSpPr/>
            <p:nvPr/>
          </p:nvSpPr>
          <p:spPr>
            <a:xfrm>
              <a:off x="983151" y="3594245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82621FCF-73DA-1BCE-037A-8195B5FBFBFC}"/>
              </a:ext>
            </a:extLst>
          </p:cNvPr>
          <p:cNvGrpSpPr/>
          <p:nvPr/>
        </p:nvGrpSpPr>
        <p:grpSpPr>
          <a:xfrm>
            <a:off x="1842878" y="2302066"/>
            <a:ext cx="1127531" cy="2000550"/>
            <a:chOff x="2314771" y="2001226"/>
            <a:chExt cx="1127531" cy="200055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886017D-CA8F-8A58-3114-F6E103825CC6}"/>
                </a:ext>
              </a:extLst>
            </p:cNvPr>
            <p:cNvSpPr/>
            <p:nvPr/>
          </p:nvSpPr>
          <p:spPr>
            <a:xfrm>
              <a:off x="2314771" y="2001226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25BA3E-FCFE-C97C-6142-9715337B7432}"/>
                </a:ext>
              </a:extLst>
            </p:cNvPr>
            <p:cNvSpPr/>
            <p:nvPr/>
          </p:nvSpPr>
          <p:spPr>
            <a:xfrm>
              <a:off x="2314771" y="2401336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E2EFCB1-E89C-96D1-0BDB-E15F4166C353}"/>
                </a:ext>
              </a:extLst>
            </p:cNvPr>
            <p:cNvSpPr/>
            <p:nvPr/>
          </p:nvSpPr>
          <p:spPr>
            <a:xfrm>
              <a:off x="2314771" y="2801446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30CFA77-07A7-6C66-D34E-690EA2E99C0C}"/>
                </a:ext>
              </a:extLst>
            </p:cNvPr>
            <p:cNvSpPr/>
            <p:nvPr/>
          </p:nvSpPr>
          <p:spPr>
            <a:xfrm>
              <a:off x="2314771" y="320155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FD81D21-FCA3-4E50-173A-C65C527C94BC}"/>
                </a:ext>
              </a:extLst>
            </p:cNvPr>
            <p:cNvSpPr/>
            <p:nvPr/>
          </p:nvSpPr>
          <p:spPr>
            <a:xfrm>
              <a:off x="2314771" y="3601666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E65D9F43-4AB9-DE24-F70F-0A92146B8CCF}"/>
              </a:ext>
            </a:extLst>
          </p:cNvPr>
          <p:cNvGrpSpPr/>
          <p:nvPr/>
        </p:nvGrpSpPr>
        <p:grpSpPr>
          <a:xfrm>
            <a:off x="5657107" y="2313571"/>
            <a:ext cx="1127531" cy="2000550"/>
            <a:chOff x="6880037" y="2001226"/>
            <a:chExt cx="1127531" cy="200055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5BA584C-2937-44D6-FA59-DAB2C5CEA79E}"/>
                </a:ext>
              </a:extLst>
            </p:cNvPr>
            <p:cNvSpPr/>
            <p:nvPr/>
          </p:nvSpPr>
          <p:spPr>
            <a:xfrm>
              <a:off x="6880037" y="200122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F9E79BC-DEBC-9DD3-4CF1-9D1AE1CB06D8}"/>
                </a:ext>
              </a:extLst>
            </p:cNvPr>
            <p:cNvSpPr/>
            <p:nvPr/>
          </p:nvSpPr>
          <p:spPr>
            <a:xfrm>
              <a:off x="6880037" y="2401336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4439B849-2457-866D-4273-22BB13388040}"/>
                </a:ext>
              </a:extLst>
            </p:cNvPr>
            <p:cNvSpPr/>
            <p:nvPr/>
          </p:nvSpPr>
          <p:spPr>
            <a:xfrm>
              <a:off x="6880037" y="2801446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786E21FC-F35D-F151-FB90-A1F0E25E9206}"/>
                </a:ext>
              </a:extLst>
            </p:cNvPr>
            <p:cNvSpPr/>
            <p:nvPr/>
          </p:nvSpPr>
          <p:spPr>
            <a:xfrm>
              <a:off x="6880037" y="3201556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8B3C7CED-FA73-24BE-AEC4-93A58173CF9E}"/>
                </a:ext>
              </a:extLst>
            </p:cNvPr>
            <p:cNvSpPr/>
            <p:nvPr/>
          </p:nvSpPr>
          <p:spPr>
            <a:xfrm>
              <a:off x="6880037" y="3601666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8FCFB3D-E8BE-A222-7A48-C5AE5974C3F7}"/>
              </a:ext>
            </a:extLst>
          </p:cNvPr>
          <p:cNvGrpSpPr/>
          <p:nvPr/>
        </p:nvGrpSpPr>
        <p:grpSpPr>
          <a:xfrm>
            <a:off x="3098724" y="2302066"/>
            <a:ext cx="1127531" cy="2000550"/>
            <a:chOff x="3791665" y="2001226"/>
            <a:chExt cx="1127531" cy="2000550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B73BD55-E88E-B53F-8237-064B5F6E3966}"/>
                </a:ext>
              </a:extLst>
            </p:cNvPr>
            <p:cNvSpPr/>
            <p:nvPr/>
          </p:nvSpPr>
          <p:spPr>
            <a:xfrm>
              <a:off x="3791665" y="2001226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524A07E-8E58-41B3-3471-BE42E1D39C46}"/>
                </a:ext>
              </a:extLst>
            </p:cNvPr>
            <p:cNvSpPr/>
            <p:nvPr/>
          </p:nvSpPr>
          <p:spPr>
            <a:xfrm>
              <a:off x="3791665" y="2401336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5F0B9B7-3EDF-A9D1-3525-D204055E976C}"/>
                </a:ext>
              </a:extLst>
            </p:cNvPr>
            <p:cNvSpPr/>
            <p:nvPr/>
          </p:nvSpPr>
          <p:spPr>
            <a:xfrm>
              <a:off x="3791665" y="280144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B15D969F-F325-799D-33F1-92F3C5B27293}"/>
                </a:ext>
              </a:extLst>
            </p:cNvPr>
            <p:cNvSpPr/>
            <p:nvPr/>
          </p:nvSpPr>
          <p:spPr>
            <a:xfrm>
              <a:off x="3791665" y="3201556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BD299D8B-C88E-DDF2-6942-20F56149ADAF}"/>
                </a:ext>
              </a:extLst>
            </p:cNvPr>
            <p:cNvSpPr/>
            <p:nvPr/>
          </p:nvSpPr>
          <p:spPr>
            <a:xfrm>
              <a:off x="3791665" y="3601666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A09CD131-F5C6-F7FE-DC80-19DDD6CB5517}"/>
              </a:ext>
            </a:extLst>
          </p:cNvPr>
          <p:cNvGrpSpPr/>
          <p:nvPr/>
        </p:nvGrpSpPr>
        <p:grpSpPr>
          <a:xfrm>
            <a:off x="4368915" y="2300943"/>
            <a:ext cx="1127531" cy="2000550"/>
            <a:chOff x="5339729" y="2001226"/>
            <a:chExt cx="1127531" cy="2000550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BB2757D1-333D-D185-ACD2-8282033A6ED5}"/>
                </a:ext>
              </a:extLst>
            </p:cNvPr>
            <p:cNvSpPr/>
            <p:nvPr/>
          </p:nvSpPr>
          <p:spPr>
            <a:xfrm>
              <a:off x="5339729" y="2001226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2338673-63B3-3F3C-86F5-EB6571403341}"/>
                </a:ext>
              </a:extLst>
            </p:cNvPr>
            <p:cNvSpPr/>
            <p:nvPr/>
          </p:nvSpPr>
          <p:spPr>
            <a:xfrm>
              <a:off x="5339729" y="240133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E479DEF-91E3-E8AB-4DC4-51FC1BEF8783}"/>
                </a:ext>
              </a:extLst>
            </p:cNvPr>
            <p:cNvSpPr/>
            <p:nvPr/>
          </p:nvSpPr>
          <p:spPr>
            <a:xfrm>
              <a:off x="5339729" y="2801446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7CAD2B82-6B52-8CD5-C478-202192D74045}"/>
                </a:ext>
              </a:extLst>
            </p:cNvPr>
            <p:cNvSpPr/>
            <p:nvPr/>
          </p:nvSpPr>
          <p:spPr>
            <a:xfrm>
              <a:off x="5339729" y="3201556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F0C5217-BDEE-1634-5D91-C7BBC7943DEE}"/>
                </a:ext>
              </a:extLst>
            </p:cNvPr>
            <p:cNvSpPr/>
            <p:nvPr/>
          </p:nvSpPr>
          <p:spPr>
            <a:xfrm>
              <a:off x="5339729" y="3601666"/>
              <a:ext cx="1127531" cy="400110"/>
            </a:xfrm>
            <a:prstGeom prst="rect">
              <a:avLst/>
            </a:prstGeom>
            <a:solidFill>
              <a:srgbClr val="8EB4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38292821-C7B6-0BDF-9011-5FB3F5D155AA}"/>
              </a:ext>
            </a:extLst>
          </p:cNvPr>
          <p:cNvSpPr txBox="1"/>
          <p:nvPr/>
        </p:nvSpPr>
        <p:spPr>
          <a:xfrm rot="10800000">
            <a:off x="47443" y="2906230"/>
            <a:ext cx="461665" cy="74251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Train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17AD09C-12EA-CFE1-269D-90A7D6F9F7D2}"/>
              </a:ext>
            </a:extLst>
          </p:cNvPr>
          <p:cNvSpPr txBox="1"/>
          <p:nvPr/>
        </p:nvSpPr>
        <p:spPr>
          <a:xfrm rot="10800000">
            <a:off x="47445" y="4324870"/>
            <a:ext cx="461665" cy="74251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84A7F1F-1E8E-A150-8F8D-E8AC4A416E17}"/>
              </a:ext>
            </a:extLst>
          </p:cNvPr>
          <p:cNvSpPr/>
          <p:nvPr/>
        </p:nvSpPr>
        <p:spPr>
          <a:xfrm>
            <a:off x="587578" y="4564826"/>
            <a:ext cx="1127531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predict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CC2DB7A-0CF1-3D3B-3B23-E508ABDFACB3}"/>
              </a:ext>
            </a:extLst>
          </p:cNvPr>
          <p:cNvSpPr/>
          <p:nvPr/>
        </p:nvSpPr>
        <p:spPr>
          <a:xfrm>
            <a:off x="1813488" y="4564826"/>
            <a:ext cx="1127531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predict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ABA4F35-E4F1-D0DA-06E1-B945B7E846A4}"/>
              </a:ext>
            </a:extLst>
          </p:cNvPr>
          <p:cNvSpPr/>
          <p:nvPr/>
        </p:nvSpPr>
        <p:spPr>
          <a:xfrm>
            <a:off x="3105722" y="4564826"/>
            <a:ext cx="1127531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predict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C3C140A-2A89-739C-581A-9A5747AFAB87}"/>
              </a:ext>
            </a:extLst>
          </p:cNvPr>
          <p:cNvSpPr/>
          <p:nvPr/>
        </p:nvSpPr>
        <p:spPr>
          <a:xfrm>
            <a:off x="4364424" y="4564826"/>
            <a:ext cx="1127531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predict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C5C647F-9E87-1960-7F91-E91D3432D143}"/>
              </a:ext>
            </a:extLst>
          </p:cNvPr>
          <p:cNvSpPr/>
          <p:nvPr/>
        </p:nvSpPr>
        <p:spPr>
          <a:xfrm>
            <a:off x="5666889" y="4564826"/>
            <a:ext cx="1127531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predict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FF79DEF8-0DC5-04DC-7FB5-360FB3B0022D}"/>
              </a:ext>
            </a:extLst>
          </p:cNvPr>
          <p:cNvGrpSpPr/>
          <p:nvPr/>
        </p:nvGrpSpPr>
        <p:grpSpPr>
          <a:xfrm>
            <a:off x="8147354" y="2316448"/>
            <a:ext cx="1127531" cy="2000550"/>
            <a:chOff x="6880037" y="2001226"/>
            <a:chExt cx="1127531" cy="2000550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59665064-0FE6-D238-ECB2-3E2562D2ABFC}"/>
                </a:ext>
              </a:extLst>
            </p:cNvPr>
            <p:cNvSpPr/>
            <p:nvPr/>
          </p:nvSpPr>
          <p:spPr>
            <a:xfrm>
              <a:off x="6880037" y="200122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predict1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F072E979-B01F-D406-368A-4323A640EB6C}"/>
                </a:ext>
              </a:extLst>
            </p:cNvPr>
            <p:cNvSpPr/>
            <p:nvPr/>
          </p:nvSpPr>
          <p:spPr>
            <a:xfrm>
              <a:off x="6880037" y="240133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predict1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D26529CF-EBAE-B33B-27F8-1B53866242A5}"/>
                </a:ext>
              </a:extLst>
            </p:cNvPr>
            <p:cNvSpPr/>
            <p:nvPr/>
          </p:nvSpPr>
          <p:spPr>
            <a:xfrm>
              <a:off x="6880037" y="280144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predict1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169E5A16-3144-8DEB-5367-565F22EBD3E0}"/>
                </a:ext>
              </a:extLst>
            </p:cNvPr>
            <p:cNvSpPr/>
            <p:nvPr/>
          </p:nvSpPr>
          <p:spPr>
            <a:xfrm>
              <a:off x="6880037" y="320155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predict1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1FF0A4F9-D218-BCBA-A26D-1709FC3BFB2B}"/>
                </a:ext>
              </a:extLst>
            </p:cNvPr>
            <p:cNvSpPr/>
            <p:nvPr/>
          </p:nvSpPr>
          <p:spPr>
            <a:xfrm>
              <a:off x="6880037" y="360166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predict1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280FE9B1-DB5B-7142-10C5-40FA4C54A9EE}"/>
              </a:ext>
            </a:extLst>
          </p:cNvPr>
          <p:cNvCxnSpPr>
            <a:cxnSpLocks/>
          </p:cNvCxnSpPr>
          <p:nvPr/>
        </p:nvCxnSpPr>
        <p:spPr>
          <a:xfrm>
            <a:off x="6846528" y="3445628"/>
            <a:ext cx="114661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5B4C63D1-7095-4BB6-9342-7C1871BF5F26}"/>
              </a:ext>
            </a:extLst>
          </p:cNvPr>
          <p:cNvSpPr txBox="1"/>
          <p:nvPr/>
        </p:nvSpPr>
        <p:spPr>
          <a:xfrm>
            <a:off x="6994318" y="4480086"/>
            <a:ext cx="907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Average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D9DC662-D934-3F91-43C0-0E25A3E392C2}"/>
              </a:ext>
            </a:extLst>
          </p:cNvPr>
          <p:cNvSpPr/>
          <p:nvPr/>
        </p:nvSpPr>
        <p:spPr>
          <a:xfrm>
            <a:off x="8147353" y="4567703"/>
            <a:ext cx="1127531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predict1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78872F03-189A-C722-84C7-0C337EF60B6D}"/>
              </a:ext>
            </a:extLst>
          </p:cNvPr>
          <p:cNvSpPr txBox="1"/>
          <p:nvPr/>
        </p:nvSpPr>
        <p:spPr>
          <a:xfrm>
            <a:off x="692072" y="1928695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model1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6C1E0EC-64EA-19EA-5EB8-23982C63B05E}"/>
              </a:ext>
            </a:extLst>
          </p:cNvPr>
          <p:cNvSpPr txBox="1"/>
          <p:nvPr/>
        </p:nvSpPr>
        <p:spPr>
          <a:xfrm>
            <a:off x="1969770" y="1928695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model1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7BD49438-F0A1-69D3-62D9-39FB5FB72A32}"/>
              </a:ext>
            </a:extLst>
          </p:cNvPr>
          <p:cNvSpPr txBox="1"/>
          <p:nvPr/>
        </p:nvSpPr>
        <p:spPr>
          <a:xfrm>
            <a:off x="5761601" y="1928695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model1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00F44547-7907-FED2-DA7B-B12D38C9C993}"/>
              </a:ext>
            </a:extLst>
          </p:cNvPr>
          <p:cNvSpPr txBox="1"/>
          <p:nvPr/>
        </p:nvSpPr>
        <p:spPr>
          <a:xfrm>
            <a:off x="4442654" y="1928695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model1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95BD26D9-D86E-9483-489A-3107779145DA}"/>
              </a:ext>
            </a:extLst>
          </p:cNvPr>
          <p:cNvSpPr txBox="1"/>
          <p:nvPr/>
        </p:nvSpPr>
        <p:spPr>
          <a:xfrm>
            <a:off x="3213093" y="1928695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model1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158BC657-0E91-9B0E-EB32-4CE1075EF388}"/>
              </a:ext>
            </a:extLst>
          </p:cNvPr>
          <p:cNvGrpSpPr/>
          <p:nvPr/>
        </p:nvGrpSpPr>
        <p:grpSpPr>
          <a:xfrm>
            <a:off x="9374983" y="2313571"/>
            <a:ext cx="1127531" cy="2000550"/>
            <a:chOff x="6880037" y="2001226"/>
            <a:chExt cx="1127531" cy="2000550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449854FC-CCBA-9D97-518F-8773229AB15B}"/>
                </a:ext>
              </a:extLst>
            </p:cNvPr>
            <p:cNvSpPr/>
            <p:nvPr/>
          </p:nvSpPr>
          <p:spPr>
            <a:xfrm>
              <a:off x="6880037" y="200122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predict2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473968B0-0AB4-AB40-E7BF-C5DE6301151F}"/>
                </a:ext>
              </a:extLst>
            </p:cNvPr>
            <p:cNvSpPr/>
            <p:nvPr/>
          </p:nvSpPr>
          <p:spPr>
            <a:xfrm>
              <a:off x="6880037" y="240133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predict2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DA5E96E2-C722-FCB4-2532-4EF6A1E48571}"/>
                </a:ext>
              </a:extLst>
            </p:cNvPr>
            <p:cNvSpPr/>
            <p:nvPr/>
          </p:nvSpPr>
          <p:spPr>
            <a:xfrm>
              <a:off x="6880037" y="280144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predict2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4F0445BD-B64E-EAB7-9D2D-07B86897F3D8}"/>
                </a:ext>
              </a:extLst>
            </p:cNvPr>
            <p:cNvSpPr/>
            <p:nvPr/>
          </p:nvSpPr>
          <p:spPr>
            <a:xfrm>
              <a:off x="6880037" y="320155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predict2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BD9CE18C-C032-2BC9-9CFC-560A0F4B2654}"/>
                </a:ext>
              </a:extLst>
            </p:cNvPr>
            <p:cNvSpPr/>
            <p:nvPr/>
          </p:nvSpPr>
          <p:spPr>
            <a:xfrm>
              <a:off x="6880037" y="360166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predict2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33F5EB51-E8DA-BC42-BCA2-395A3569F9D4}"/>
              </a:ext>
            </a:extLst>
          </p:cNvPr>
          <p:cNvGrpSpPr/>
          <p:nvPr/>
        </p:nvGrpSpPr>
        <p:grpSpPr>
          <a:xfrm>
            <a:off x="10627699" y="2316448"/>
            <a:ext cx="1127531" cy="2000550"/>
            <a:chOff x="6880037" y="2001226"/>
            <a:chExt cx="1127531" cy="2000550"/>
          </a:xfrm>
        </p:grpSpPr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A43D6369-CD2C-F68C-2905-9594D3208A49}"/>
                </a:ext>
              </a:extLst>
            </p:cNvPr>
            <p:cNvSpPr/>
            <p:nvPr/>
          </p:nvSpPr>
          <p:spPr>
            <a:xfrm>
              <a:off x="6880037" y="200122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predict3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D80D40F5-7966-51D4-95CB-518A87F3FF35}"/>
                </a:ext>
              </a:extLst>
            </p:cNvPr>
            <p:cNvSpPr/>
            <p:nvPr/>
          </p:nvSpPr>
          <p:spPr>
            <a:xfrm>
              <a:off x="6880037" y="240133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predict3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0BB9551A-F4F0-DC1F-6266-25194458729A}"/>
                </a:ext>
              </a:extLst>
            </p:cNvPr>
            <p:cNvSpPr/>
            <p:nvPr/>
          </p:nvSpPr>
          <p:spPr>
            <a:xfrm>
              <a:off x="6880037" y="280144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predict3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CCF57EE0-6DE2-E0F6-97D7-A0479A6C875D}"/>
                </a:ext>
              </a:extLst>
            </p:cNvPr>
            <p:cNvSpPr/>
            <p:nvPr/>
          </p:nvSpPr>
          <p:spPr>
            <a:xfrm>
              <a:off x="6880037" y="320155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predict3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EDF478A5-C719-4233-2C4D-2CEA0987BA9D}"/>
                </a:ext>
              </a:extLst>
            </p:cNvPr>
            <p:cNvSpPr/>
            <p:nvPr/>
          </p:nvSpPr>
          <p:spPr>
            <a:xfrm>
              <a:off x="6880037" y="3601666"/>
              <a:ext cx="1127531" cy="4001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predict3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B1A77887-C89F-00B1-25FC-72BA0C0610FE}"/>
              </a:ext>
            </a:extLst>
          </p:cNvPr>
          <p:cNvCxnSpPr>
            <a:cxnSpLocks/>
          </p:cNvCxnSpPr>
          <p:nvPr/>
        </p:nvCxnSpPr>
        <p:spPr>
          <a:xfrm>
            <a:off x="6846528" y="4767545"/>
            <a:ext cx="114661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B3FBBD35-548B-A37A-2E93-CE37FDB7084F}"/>
              </a:ext>
            </a:extLst>
          </p:cNvPr>
          <p:cNvSpPr txBox="1"/>
          <p:nvPr/>
        </p:nvSpPr>
        <p:spPr>
          <a:xfrm>
            <a:off x="6970269" y="2931121"/>
            <a:ext cx="907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通过三种不同模型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2DB398C-1E8E-5D89-6D8F-F942E21FD830}"/>
              </a:ext>
            </a:extLst>
          </p:cNvPr>
          <p:cNvSpPr/>
          <p:nvPr/>
        </p:nvSpPr>
        <p:spPr>
          <a:xfrm>
            <a:off x="9382894" y="4565461"/>
            <a:ext cx="1127531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predict2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29EFE74-94F6-4CF8-AE53-252B4691D6F1}"/>
              </a:ext>
            </a:extLst>
          </p:cNvPr>
          <p:cNvSpPr/>
          <p:nvPr/>
        </p:nvSpPr>
        <p:spPr>
          <a:xfrm>
            <a:off x="10651501" y="4564826"/>
            <a:ext cx="1127531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predict3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E98CD6C-2C3F-DD6E-4554-D8F5A6CDF918}"/>
              </a:ext>
            </a:extLst>
          </p:cNvPr>
          <p:cNvSpPr txBox="1"/>
          <p:nvPr/>
        </p:nvSpPr>
        <p:spPr>
          <a:xfrm>
            <a:off x="8203607" y="1959472"/>
            <a:ext cx="10150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Xgboost1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C2514BB-CD0C-BE59-E3A1-6B3E1682D565}"/>
              </a:ext>
            </a:extLst>
          </p:cNvPr>
          <p:cNvSpPr txBox="1"/>
          <p:nvPr/>
        </p:nvSpPr>
        <p:spPr>
          <a:xfrm>
            <a:off x="9431237" y="1942970"/>
            <a:ext cx="10150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Xgboost2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BA2C5B4-C0F7-810F-02A6-E2F4E296F275}"/>
              </a:ext>
            </a:extLst>
          </p:cNvPr>
          <p:cNvSpPr txBox="1"/>
          <p:nvPr/>
        </p:nvSpPr>
        <p:spPr>
          <a:xfrm>
            <a:off x="10667953" y="1959472"/>
            <a:ext cx="971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lightgbm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箭头: 下 60">
            <a:extLst>
              <a:ext uri="{FF2B5EF4-FFF2-40B4-BE49-F238E27FC236}">
                <a16:creationId xmlns:a16="http://schemas.microsoft.com/office/drawing/2014/main" id="{55E71EB8-B30B-0993-EB8A-390CC094A3D0}"/>
              </a:ext>
            </a:extLst>
          </p:cNvPr>
          <p:cNvSpPr/>
          <p:nvPr/>
        </p:nvSpPr>
        <p:spPr>
          <a:xfrm>
            <a:off x="9649490" y="5300055"/>
            <a:ext cx="336884" cy="66575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DD1E9C47-DD71-B8AE-C5AE-ACB1F4679592}"/>
              </a:ext>
            </a:extLst>
          </p:cNvPr>
          <p:cNvSpPr txBox="1"/>
          <p:nvPr/>
        </p:nvSpPr>
        <p:spPr>
          <a:xfrm>
            <a:off x="9929867" y="5454502"/>
            <a:ext cx="1395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逻辑回归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FEE8627-A689-B629-6CC3-C797D57FBF7F}"/>
              </a:ext>
            </a:extLst>
          </p:cNvPr>
          <p:cNvSpPr txBox="1"/>
          <p:nvPr/>
        </p:nvSpPr>
        <p:spPr>
          <a:xfrm>
            <a:off x="9030544" y="6057622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得到最终预测结果</a:t>
            </a:r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C76C6848-BE80-285A-4510-4F56F72C6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601" y="5632930"/>
            <a:ext cx="2971800" cy="8572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2C31AB08-058A-284E-98A1-508C299DE9E4}"/>
              </a:ext>
            </a:extLst>
          </p:cNvPr>
          <p:cNvSpPr txBox="1"/>
          <p:nvPr/>
        </p:nvSpPr>
        <p:spPr>
          <a:xfrm>
            <a:off x="2941019" y="5120355"/>
            <a:ext cx="232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五折交叉验证</a:t>
            </a:r>
          </a:p>
        </p:txBody>
      </p:sp>
    </p:spTree>
    <p:extLst>
      <p:ext uri="{BB962C8B-B14F-4D97-AF65-F5344CB8AC3E}">
        <p14:creationId xmlns:p14="http://schemas.microsoft.com/office/powerpoint/2010/main" val="214860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471085]}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03F88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1979</TotalTime>
  <Words>1603</Words>
  <Application>Microsoft Office PowerPoint</Application>
  <PresentationFormat>宽屏</PresentationFormat>
  <Paragraphs>357</Paragraphs>
  <Slides>20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pingfang SC</vt:lpstr>
      <vt:lpstr>等线</vt:lpstr>
      <vt:lpstr>等线 Light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SYS</dc:creator>
  <cp:lastModifiedBy>zhihao yao</cp:lastModifiedBy>
  <cp:revision>568</cp:revision>
  <dcterms:created xsi:type="dcterms:W3CDTF">2025-05-12T09:52:00Z</dcterms:created>
  <dcterms:modified xsi:type="dcterms:W3CDTF">2025-11-11T03:43:33Z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04E1FBECDB3843C0AF9DEFD87EFB52A9_12</vt:lpwstr>
  </property>
  <property fmtid="{D5CDD505-2E9C-101B-9397-08002B2CF9AE}" pid="3" name="KSOProductBuildVer">
    <vt:lpwstr>2052-12.1.0.21915</vt:lpwstr>
  </property>
</Properties>
</file>